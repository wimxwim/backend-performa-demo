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FDBA74"/>
                </a:solidFill>
                <a:latin typeface="Calibri"/>
              </a:defRPr>
            </a:pPr>
            <a:r>
              <a:t>GOTONG ROYONG  •  OS Kehidupan Komunitas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Modul Performa</a:t>
            </a:r>
            <a:br/>
            <a:r>
              <a:t>Backend GR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FDBFE"/>
                </a:solidFill>
                <a:latin typeface="Calibri"/>
              </a:defRPr>
            </a:pPr>
            <a:r>
              <a:t>Logging + Performa  •  TIGA INSAN  •  60 menit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188720"/>
            <a:ext cx="411480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417320"/>
            <a:ext cx="3657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>
                <a:solidFill>
                  <a:srgbClr val="1E3A5F"/>
                </a:solidFill>
                <a:latin typeface="Calibri"/>
              </a:defRPr>
            </a:pPr>
            <a:r>
              <a:t>•  Poster 1+2 + 10 Bab + 16 Endpoint + Checklist</a:t>
            </a:r>
          </a:p>
          <a:p>
            <a:pPr>
              <a:spcAft>
                <a:spcPts val="800"/>
              </a:spcAft>
              <a:defRPr sz="900">
                <a:solidFill>
                  <a:srgbClr val="1E3A5F"/>
                </a:solidFill>
                <a:latin typeface="Calibri"/>
              </a:defRPr>
            </a:pPr>
            <a:r>
              <a:t>•  Postgres + Redis + pg_trgm + MatView + PgBouncer  →  p50 &lt;50ms</a:t>
            </a:r>
          </a:p>
          <a:p>
            <a:pPr>
              <a:spcAft>
                <a:spcPts val="800"/>
              </a:spcAft>
              <a:defRPr sz="900">
                <a:solidFill>
                  <a:srgbClr val="1E3A5F"/>
                </a:solidFill>
                <a:latin typeface="Calibri"/>
              </a:defRPr>
            </a:pPr>
            <a:r>
              <a:t>•  CDC Debezium WAL → Kafka → ES geospasial + ClickHouse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550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93C5FD"/>
                </a:solidFill>
                <a:latin typeface="Calibri"/>
              </a:defRPr>
            </a:pPr>
            <a:r>
              <a:t>60 menit  ·  10 Bab  ·  16 Endpoint  ·  Checklist 10 DoD  ·  Rp0 → Auto-scale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59E0B"/>
                </a:solidFill>
                <a:latin typeface="Calibri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Daftar Isi  —  10 Bab + 35 Slides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Daftar Isi  ·  2/10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1430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Bab 1  Kecepatan = Kepercayaan (Muttaqin, SLA)  →  Slides 3-5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Bab 2  Data Flow Flutter → Gateway → 7 Fondasi → 6 DB  →  Slide 13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Bab 3  Postgres Scale (B-Tree, pg_trgm, MatView, Cursor, RLS)  →  Slides 14-17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Bab 4  Caching (L1/L2/L3, TTL, tiering)  →  Slide 18  •  Bab 5 ES geospasial  →  Slide 19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Bab 6  CDC Streaming (WAL → Kafka → ES/CH, anti dual-write)  →  Slide 20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Bab 7  API Delivery (GZIP, cursor, Edge, rate limit)  →  Slide 21  •  Bab 8 Observability  →  Slide 22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Bab 9  Roadmap 5 Fase (MVP Rp0 → auto-scale)  →  Slide 23  •  Bab 10 SLA 16 endpoint + throughput + DoD  →  Slides 24-26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 Demo 01-05 + Appendix A/B/C + Penutup  →  Slides 27-35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Daftar Isi  |  TIGA INSAN: Muttaqin • Shalih • Nafi'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Poster #1  —  Apa itu 200ms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Poster #1  ·  3/10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1 detik = 1000ms  —  200ms = 0.2 detik = kedipan mata.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Diagram: User (tap) → Server (proses 50ms) → DB (query 20ms) → Response (GZIP 10ms) → User lihat hasil.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200ms adalah batas 'terasa instan' — di atas itu pengguna mulai merasa menunggu (UX #46).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Target backend &lt;200ms p95 → sisa budget untuk jaringan 3G (500-1000ms) masih &lt;3 detik total.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Ukur dengan X-Response-Time header + prom-client histogram, bukan stopwatch manual.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43000"/>
            <a:ext cx="4846320" cy="3840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216152"/>
            <a:ext cx="4626864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6EFAC"/>
                </a:solidFill>
                <a:latin typeface="Consolas"/>
              </a:defRPr>
            </a:pPr>
            <a:r>
              <a:t>User --tap--&gt; [Gateway JWT 5ms] --&gt; [Redis HIT 2ms / DB 20ms] --&gt; [GZIP 5ms] --&gt; User</a:t>
            </a:r>
            <a:br/>
            <a:r>
              <a:t>Total server: 30-50ms (p50)  |  + RTT 3G 500ms = ~550ms (masih &lt;3s)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Poster #1  |  TIGA INSAN: Muttaqin • Shalih • Nafi'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Poster #3  —  Apa itu P99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Poster #3  ·  4/10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100 request diurutkan dari tercepat ke terlambat — P99 = request ke-99 (99% lebih cepat, 1% lebih lambat).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Contoh: P99 = 200ms artinya 99 request &lt;=200ms, 1 request &gt;200ms (yang paling lambat, paling sering komplain).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Kenapa peduli P99? Karena 1% yang lambat adalah pengguna yang paling vokal — mereka yang churn.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Jangan hanya lihat rata-rata (avg) — avg bisa 50ms tapi P99 2000ms = ada yang sangat menderita.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Spec: p50 &lt;50ms, p95 &lt;200ms, p99 &lt;500ms — ketiganya harus hijau, bukan cuma p50.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43000"/>
            <a:ext cx="4846320" cy="3840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216152"/>
            <a:ext cx="4626864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6EFAC"/>
                </a:solidFill>
                <a:latin typeface="Consolas"/>
              </a:defRPr>
            </a:pPr>
            <a:r>
              <a:t>100 request sorted: [10,12,15,...,45,48, 50(p50), ..., 180, 200(p99), 2500]</a:t>
            </a:r>
            <a:br/>
            <a:r>
              <a:t>  50% &lt;= p50   95% &lt;= p95   99% &lt;= p99   1% tail latency (paling lambat)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Poster #3  |  TIGA INSAN: Muttaqin • Shalih • Nafi'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Bab 3.1  —  Index B-Tree: 50.000x lebih cepat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Bab 3  ·  5/10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Tanpa index: Seq Scan baca 1.000.000 baris satu-per-satu — lambat, O(n).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Dengan B-Tree: Balanced Tree cari dalam ~20 langkah (logaritmik) — O(log n) → 50.000x speedup.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Aturan: semua FK wajib punya index (Checklist #3) — tanpa index, JOIN = Seq Scan.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Buat CONCURRENTLY agar tidak blokir write di produksi; cek EXPLAIN: Index Scan vs Seq Scan.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Index komposit: (community_id, pinned, created_at) untuk ORDER BY pinned, created_at LIMIT 20 (p50 &lt;30ms).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43000"/>
            <a:ext cx="4846320" cy="3840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216152"/>
            <a:ext cx="4626864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6EFAC"/>
                </a:solidFill>
                <a:latin typeface="Consolas"/>
              </a:defRPr>
            </a:pPr>
            <a:r>
              <a:t>Tanpa index: [1M rows] --scan--&gt; 1.000.000 langkah ~2000ms</a:t>
            </a:r>
            <a:br/>
            <a:r>
              <a:t>Dengan B-Tree:  root -&gt; branch -&gt; branch -&gt; leaf  ~20 langkah ~10ms</a:t>
            </a:r>
            <a:br/>
            <a:r>
              <a:t>CREATE INDEX CONCURRENTLY idx_komunitas_slug ON communities(slug);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Bab 3  |  TIGA INSAN: Muttaqin • Shalih • Nafi'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Bab 3.2  —  pg_trgm GIN: 10-50ms vs LIKE 2000ms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Bab 3  ·  6/10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LIKE '%ayam%' tidak bisa pakai B-Tree → Seq Scan 6.081 baris ~2000ms (meledak saat data tumbuh).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pg_trgm pecah teks jadi trigram (3 huruf), GIN index cari overlap trigram → 10-50ms, similarity 71% untuk 'ayam'.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Query: WHERE name % 'ayam' ORDER BY similarity(name,'ayam') DESC LIMIT 20 (operator % = similarity &gt;0.3).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Aktifkan: CREATE EXTENSION pg_trgm; CREATE INDEX USING GIN (name gin_trgm_ops) — gratis, built-in Postgres.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Kapan ES? pg_trgm cukup untuk puluhan ribu dokumen; ES untuk 500+ komunitas / ratusan ribu dokumen (Fase 3).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43000"/>
            <a:ext cx="4846320" cy="3840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216152"/>
            <a:ext cx="4626864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6EFAC"/>
                </a:solidFill>
                <a:latin typeface="Consolas"/>
              </a:defRPr>
            </a:pPr>
            <a:r>
              <a:t>BEFORE: SELECT * FROM umkm WHERE name LIKE '%ayam%'  --&gt; Seq Scan 2000ms</a:t>
            </a:r>
            <a:br/>
            <a:r>
              <a:t>AFTER : SELECT * FROM umkm WHERE name % 'ayam' ORDER BY similarity DESC --&gt; GIN 10-50ms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Bab 3  |  TIGA INSAN: Muttaqin • Shalih • Nafi'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Bab 4  —  Caching: Hierarki L1/L2/L3 + TTL + Tiering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Bab 4  ·  7/10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Hierarki: L1 memory sub-ms (hot), L2 Redis 1-5ms (warm), L3 Postgres 10-50ms (cold) — kejar L1/L2.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Pola: Cache-Aside (lazy, baca dulu cache, miss baru DB) vs Write-Through (tulis cache+DB bersamaan).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TTL: jadwal sholat 1 jam, profil 5 menit, komunitas 10 menit, cari populer 5 menit — jangan cache selamanya.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Tiering: hot (sering diakses, TTL pendek), warm (kadang, TTL menengah), cold (jarang, tanpa cache).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Kapan Redis wajib? p99 cache &gt;5ms atau &gt;500 writes/detik atau hot data &gt;80% hit rate (threshold 80%).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49440" y="1143000"/>
          <a:ext cx="48463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/>
                <a:gridCol w="1211580"/>
                <a:gridCol w="1211580"/>
                <a:gridCol w="1211580"/>
              </a:tblGrid>
              <a:tr h="96012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Contoh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TTL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L1 memory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sub-ms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Feature flag, JWT cache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60s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L2 Redis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1-5ms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Jadwal sholat, profil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5m-1h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L3 Postgres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10-50ms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Transaksi, ledger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Bab 4  |  TIGA INSAN: Muttaqin • Shalih • Nafi'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Bab 6  —  CDC: Debezium WAL → Kafka → ES/ClickHouse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Bab 6  ·  8/10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CDC = tangkap perubahan DB tanpa polling — Debezium baca WAL logical (INSERT/UPDATE/DELETE) → kirim ke Kafka.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Kafka sebagai broker: consumer terpisah tulis ke ES (search) &amp; ClickHouse (OLAP) — buffer &amp; replay.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Batch ETL alternatif untuk non real-time: cron 00:00 ekstrak Postgres → ClickHouse (laporan bulanan, hemat biaya).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Anti dual-write: tulis HANYA ke Postgres (source of truth); jangan insert ke Postgres lalu ke ES di kode aplikasi — jika salah satu gagal = inkonsisten.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Prinsip single writer: Postgres WAL adalah kebenaran; ES/ClickHouse adalah derived (bisa rebuild kapan saja).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43000"/>
            <a:ext cx="4846320" cy="3840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216152"/>
            <a:ext cx="4626864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6EFAC"/>
                </a:solidFill>
                <a:latin typeface="Consolas"/>
              </a:defRPr>
            </a:pPr>
            <a:r>
              <a:t>Postgres WAL --(Debezium pgoutput)--&gt; Kafka(9092) --+--&gt; ES(9200) geo &lt;10ms</a:t>
            </a:r>
            <a:br/>
            <a:r>
              <a:t>                                           +--&gt; ClickHouse(8123) OLAP</a:t>
            </a:r>
            <a:br/>
            <a:r>
              <a:t>Dual-write DANGER: app-&gt;PG OK + app-&gt;ES FAIL = data hilang di search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Bab 6  |  TIGA INSAN: Muttaqin • Shalih • Nafi'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Bab 10.1  —  SLA 16 Endpoint (p50 / p95 / p99)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6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BFDBFE"/>
                </a:solidFill>
                <a:latin typeface="Calibri"/>
              </a:defRPr>
            </a:pPr>
            <a:r>
              <a:t>Bab 10  ·  9/10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16 endpoint dengan SLA per-endpoint — tidak ada satu angka untuk semua; baca tabel sebelum rilis.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Read tercepat: /jadwal-sholat p50 &lt;20ms (Redis TTL 1 jam); Write: /kas POST p50 &lt;100ms (trigger SHA-256).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Semua endpoint wajib EXPLAIN ANALYZE sebelum rilis; jika p95 &gt;500ms → incident.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 Strategi utama per endpoint: cache, index, MatView, cursor, GIN — lihat kolom Strategi di tabel.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49440" y="1143000"/>
          <a:ext cx="48463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264"/>
                <a:gridCol w="969264"/>
                <a:gridCol w="969264"/>
                <a:gridCol w="969264"/>
                <a:gridCol w="96926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GET /komunitas/:id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&lt;30ms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&lt;100ms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&lt;200ms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GET /kas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&lt;50ms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&lt;200ms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&lt;500ms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GET /pengumuman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&lt;30ms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&lt;100ms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&lt;200ms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GET /jadwal-sholat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&lt;20ms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&lt;50ms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&lt;100ms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GET /cari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&lt;50ms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&lt;200ms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&lt;500ms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16 endpoint total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&lt;50 read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E293B"/>
                          </a:solidFill>
                          <a:latin typeface="Calibri"/>
                        </a:rPr>
                        <a:t>&lt;500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019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FDBFE"/>
                </a:solidFill>
                <a:latin typeface="Calibri"/>
              </a:defRPr>
            </a:pPr>
            <a:r>
              <a:t>Gotong Royong — OS Kehidupan Komunitas  |  60 menit  |  Bab 10  |  TIGA INSAN: Muttaqin • Shalih • Nafi'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DBA74"/>
                </a:solidFill>
                <a:latin typeface="Calibri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FDBA74"/>
                </a:solidFill>
                <a:latin typeface="Calibri"/>
              </a:defRPr>
            </a:pPr>
            <a:r>
              <a:t>GOTONG ROYONG  •  OS Kehidupan Komunitas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Kecepatan = Amanah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FDBFE"/>
                </a:solidFill>
                <a:latin typeface="Calibri"/>
              </a:defRPr>
            </a:pPr>
            <a:r>
              <a:t>Mulai sederhana, tingkatkan bertahap — setiap ms = kepercayaan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188720"/>
            <a:ext cx="411480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417320"/>
            <a:ext cx="3657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>
                <a:solidFill>
                  <a:srgbClr val="1E3A5F"/>
                </a:solidFill>
                <a:latin typeface="Calibri"/>
              </a:defRPr>
            </a:pPr>
            <a:r>
              <a:t>•  MVP Rp0 sudah p50 &lt;50ms dengan Postgres+Redis+pg_trgm+MatView</a:t>
            </a:r>
          </a:p>
          <a:p>
            <a:pPr>
              <a:spcAft>
                <a:spcPts val="800"/>
              </a:spcAft>
              <a:defRPr sz="900">
                <a:solidFill>
                  <a:srgbClr val="1E3A5F"/>
                </a:solidFill>
                <a:latin typeface="Calibri"/>
              </a:defRPr>
            </a:pPr>
            <a:r>
              <a:t>•  Tambah ES+CDC+ClickHouse saat 500+ komunitas (Fase 3) — jangan over-engineering di awal</a:t>
            </a:r>
          </a:p>
          <a:p>
            <a:pPr>
              <a:spcAft>
                <a:spcPts val="800"/>
              </a:spcAft>
              <a:defRPr sz="900">
                <a:solidFill>
                  <a:srgbClr val="1E3A5F"/>
                </a:solidFill>
                <a:latin typeface="Calibri"/>
              </a:defRPr>
            </a:pPr>
            <a:r>
              <a:t>•  Ukur, jangan tebak: EXPLAIN ANALYZE, pg_stat_statements, Prometheus, Loki, Jaeger</a:t>
            </a:r>
          </a:p>
          <a:p>
            <a:pPr>
              <a:spcAft>
                <a:spcPts val="800"/>
              </a:spcAft>
              <a:defRPr sz="900">
                <a:solidFill>
                  <a:srgbClr val="1E3A5F"/>
                </a:solidFill>
                <a:latin typeface="Calibri"/>
              </a:defRPr>
            </a:pPr>
            <a:r>
              <a:t>•  TIGA INSAN: Muttaqin (percaya), Shalih (berkarya), Nafi' (bermanfaat) — performa adalah wujudnya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550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93C5FD"/>
                </a:solidFill>
                <a:latin typeface="Calibri"/>
              </a:defRPr>
            </a:pPr>
            <a:r>
              <a:t>60 menit  ·  10 Bab  ·  16 Endpoint  ·  Checklist 10 DoD  ·  Rp0 → Auto-scale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F59E0B"/>
                </a:solidFill>
                <a:latin typeface="Calibr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