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 Performa Backend GR Demo</a:t>
            </a:r>
          </a:p>
          <a:p>
            <a:r>
              <a:t>Narasi: 4 branch + 5 CDC, TIGA INSAN Muttaqin, p50&lt;50ms MVP Rp0</a:t>
            </a:r>
          </a:p>
          <a:p>
            <a:r>
              <a:t>Q&amp;A: Kenapa Rp0? Podman lokal tanpa cloud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Daftar Isi -- 10 Bab + 35 Slides Map</a:t>
            </a:r>
          </a:p>
          <a:p>
            <a:r>
              <a:t>Narasi: Peta 10 bab, Poster 1-7 di part1 bangun bahasa sebelum teknik</a:t>
            </a:r>
          </a:p>
          <a:p>
            <a:r>
              <a:t>Q&amp;A: Harus hafal 35? Tidak, cukup peta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Bab 1.1 -- Kecepatan = Kepercayaan (Muttaqin)</a:t>
            </a:r>
          </a:p>
          <a:p>
            <a:r>
              <a:t>Narasi: Lambat=khianat amanah, SHA-256 &lt;1 detik, ukur p50/p95/p99</a:t>
            </a:r>
          </a:p>
          <a:p>
            <a:r>
              <a:t>Q&amp;A: Hubungan Muttaqin-ms? Amanah = sistem cepat transparan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Bab 1.2 -- Konteks Indonesia 3G 2-3GB RAM</a:t>
            </a:r>
          </a:p>
          <a:p>
            <a:r>
              <a:t>Narasi: RTT 500-1000ms, backend &lt;200ms agar total &lt;3 detik, GZIP 70%</a:t>
            </a:r>
          </a:p>
          <a:p>
            <a:r>
              <a:t>Q&amp;A: Kenapa &lt;200ms? Sisa budget untuk 3G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Bab 1.3 -- Target SLA p50/p95/p99</a:t>
            </a:r>
          </a:p>
          <a:p>
            <a:r>
              <a:t>Narasi: p50&lt;50ms read, p95&lt;200ms, p99&lt;500ms, 99.5%-&gt;99.99%, prom-client histogram</a:t>
            </a:r>
          </a:p>
          <a:p>
            <a:r>
              <a:t>Q&amp;A: Kenapa read/write beda? Write ACID+trigger lebih lambat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Poster #1 -- Apa itu 200ms</a:t>
            </a:r>
          </a:p>
          <a:p>
            <a:r>
              <a:t>Narasi: 1 detik=1000ms, 200ms=0.2 detik kedipan mata, User-&gt;Server-&gt;DB-&gt;Response 30-50ms</a:t>
            </a:r>
          </a:p>
          <a:p>
            <a:r>
              <a:t>Perintah Live: Tidak ada demo, fokus teori</a:t>
            </a:r>
          </a:p>
          <a:p>
            <a:r>
              <a:t>Q&amp;A: Kenapa 200ms? Backend &lt;200ms agar total dengan 3G &lt;3 detik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Poster #2 -- Semakin kecil ms semakin cepat</a:t>
            </a:r>
          </a:p>
          <a:p>
            <a:r>
              <a:t>Narasi: 1ms sangat cepat (Redis HIT) vs 2000ms sangat lambat (Seq Scan) 400-2000x</a:t>
            </a:r>
          </a:p>
          <a:p>
            <a:r>
              <a:t>Q&amp;A: 1ms mungkin? Ya Redis HIT &amp; RLS &lt;0.1ms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Poster #3 -- Apa itu P99</a:t>
            </a:r>
          </a:p>
          <a:p>
            <a:r>
              <a:t>Narasi: 100 request urut, P99=request ke-99, avg 109ms bohong jika 1 request 10000ms</a:t>
            </a:r>
          </a:p>
          <a:p>
            <a:r>
              <a:t>Q&amp;A: Kenapa bukan rata-rata? Tertarik outlier, P99 jujur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Poster #4 -- P50/P95/P99/P99.9</a:t>
            </a:r>
          </a:p>
          <a:p>
            <a:r>
              <a:t>Narasi: P50 median 50%, P95 5% tail, P99 1% tail, P99.9 0.1% untuk 200k RPS</a:t>
            </a:r>
          </a:p>
          <a:p>
            <a:r>
              <a:t>Q&amp;A: Kapan P99.9 penting? Fase5 200k RPS, 0.1%=200 req/detik lambat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Poster #5 -- Skala rasa</a:t>
            </a:r>
          </a:p>
          <a:p>
            <a:r>
              <a:t>Narasi: 0-50 sangat cepat, 50-100 sangat baik, 100-200 baik, 200-500 mulai terasa, &gt;1000 sangat lambat</a:t>
            </a:r>
          </a:p>
          <a:p>
            <a:r>
              <a:t>Q&amp;A: Skala server atau total? Server-side, total +RTT 500ms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Poster #6.1 -- 10 Metrik Wajib</a:t>
            </a:r>
          </a:p>
          <a:p>
            <a:r>
              <a:t>Narasi: ResponseTime, P95/P99, RPS, Latency, Error&lt;0.1%, Availability, CPU&lt;70%, Memory&lt;70%, DB&lt;50ms, Cache&gt;80%</a:t>
            </a:r>
          </a:p>
          <a:p>
            <a:r>
              <a:t>Q&amp;A: Harus 10 sekaligus? Mulai 3: ResponseTime, Error, CacheHit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Poster #7 -- Glossary Super Sederhana</a:t>
            </a:r>
          </a:p>
          <a:p>
            <a:r>
              <a:t>Narasi: ms, P99, RPS, Latency, Throughput, Error, Availability, CPU, Cache Hit -- bahasa sama</a:t>
            </a:r>
          </a:p>
          <a:p>
            <a:r>
              <a:t>Q&amp;A: Bedanya latency vs throughput? Waktu satu request vs kapasitas per detik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Bab 2 -- Data Flow Flutter-&gt;Gateway-&gt;7 Fondasi-&gt;6 DB</a:t>
            </a:r>
          </a:p>
          <a:p>
            <a:r>
              <a:t>Narasi: Flutter-&gt;Gateway JWT&lt;5ms-&gt;7 Fondasi-&gt;6 DB, hot path Redis HIT &lt;5ms</a:t>
            </a:r>
          </a:p>
          <a:p>
            <a:r>
              <a:t>Perintah Live: Tidak ada demo, fokus arsitektur</a:t>
            </a:r>
          </a:p>
          <a:p>
            <a:r>
              <a:t>Q&amp;A: Kenapa 7 fondasi? Dipakai semua modul, hindari duplikasi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Bab 3.1 -- Index B-Tree 50.000x</a:t>
            </a:r>
          </a:p>
          <a:p>
            <a:r>
              <a:t>Narasi: Seq Scan 1M langkah 2000ms vs B-Tree 20 langkah 10ms O(log n), FK wajib index CONCURRENTLY</a:t>
            </a:r>
          </a:p>
          <a:p>
            <a:r>
              <a:t>Perintah Live: psql EXPLAIN ANALYZE SELECT * FROM umkm WHERE kelurahan='Bintaro' -&gt; Index Scan 10ms</a:t>
            </a:r>
          </a:p>
          <a:p>
            <a:r>
              <a:t>Q&amp;A: Kapan index merugikan? &gt;50% full scan atau &gt;5-7 index per tabel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Bab 3.2 -- pg_trgm GIN 10-50ms vs LIKE 2000ms</a:t>
            </a:r>
          </a:p>
          <a:p>
            <a:r>
              <a:t>Narasi: LIKE '%ayam%' Seq Scan 2000ms, pg_trgm trigram GIN 10-50ms 40-200x, WHERE name % 'ayam'</a:t>
            </a:r>
          </a:p>
          <a:p>
            <a:r>
              <a:t>Perintah Live: curl /api/cari?q=ayam 10-50ms vs ?q=ayam&amp;mode=like 2000ms</a:t>
            </a:r>
          </a:p>
          <a:p>
            <a:r>
              <a:t>Q&amp;A: Kenapa GIN bukan B-Tree? B-Tree hanya =/prefix, GIN untuk LIKE &amp; 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Bab 3.3-3.4 -- MatView + Cursor vs OFFSET</a:t>
            </a:r>
          </a:p>
          <a:p>
            <a:r>
              <a:t>Narasi: MatView SUM 500ms-&gt;5-30ms 16-100x refresh CONCURRENTLY 5m, OFFSET 10000 2000ms-&gt;cursor 20ms 100x</a:t>
            </a:r>
          </a:p>
          <a:p>
            <a:r>
              <a:t>Perintah Live: curl /api/kas?mode=before 500ms vs 5-30ms; offset=10000 2000ms vs cursor 20ms</a:t>
            </a:r>
          </a:p>
          <a:p>
            <a:r>
              <a:t>Q&amp;A: Kapan cursor vs OFFSET? Cursor infinite scroll, OFFSET hanya halaman kecil &lt;100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Bab 3.5-3.8 -- PgBouncer, EXPLAIN, RLS, VACUUM</a:t>
            </a:r>
          </a:p>
          <a:p>
            <a:r>
              <a:t>Narasi: PgBouncer pool25 hemat 95% RAM, EXPLAIN 6 langkah, RLS &lt;0.1ms, VACUUM n_dead_tup&lt;1000</a:t>
            </a:r>
          </a:p>
          <a:p>
            <a:r>
              <a:t>Perintah Live: psql :6432 SHOW POOLS; EXPLAIN ANALYZE ledger; SELECT n_dead_tup</a:t>
            </a:r>
          </a:p>
          <a:p>
            <a:r>
              <a:t>Q&amp;A: Kenapa pool 25? (CPU*2)+spindle, 4 core=10-15 + buffer 100 RPS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Bab 4 -- Caching L1/L2/L3 + TTL + Tiering</a:t>
            </a:r>
          </a:p>
          <a:p>
            <a:r>
              <a:t>Narasi: L1 sub-ms, L2 Redis 1-5ms, L3 PG 10-50ms, Cache-Aside, TTL sholat 1j profil 5m</a:t>
            </a:r>
          </a:p>
          <a:p>
            <a:r>
              <a:t>Perintah Live: curl -i /api/komunitas/xxx grep X-Cache MISS lalu HIT; redis-cli INFO stats hit&gt;80%</a:t>
            </a:r>
          </a:p>
          <a:p>
            <a:r>
              <a:t>Q&amp;A: Kenapa Cache-Aside? Resilience, Redis down tetap jalan via DB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Bab 5 -- Elasticsearch Inverted Index + Geospasial</a:t>
            </a:r>
          </a:p>
          <a:p>
            <a:r>
              <a:t>Narasi: Inverted &lt;10ms vs LIKE 2000ms, geo_distance 5km &lt;10ms vs PostGIS 50ms, MVP pg_trgm cukup</a:t>
            </a:r>
          </a:p>
          <a:p>
            <a:r>
              <a:t>Perintah Live: curl :9200/umkm/_search?q=ayam took&lt;10ms; /masjid-terdekat?lat=-6.25&amp;lng=106.75 &lt;10ms</a:t>
            </a:r>
          </a:p>
          <a:p>
            <a:r>
              <a:t>Q&amp;A: Kenapa tidak ES dari MVP? pg_trgm gratis cukup puluhan ribu, ES Fase3 500+ komunitas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Bab 6 -- CDC Debezium WAL-&gt;Kafka-&gt;ES/ClickHouse</a:t>
            </a:r>
          </a:p>
          <a:p>
            <a:r>
              <a:t>Narasi: WAL logical -&gt; Kafka -&gt; ES/CH, anti dual-write single writer PG, lag_ms&lt;1000ms</a:t>
            </a:r>
          </a:p>
          <a:p>
            <a:r>
              <a:t>Perintah Live: kafka-console-consumer --topic gotongroyong.public.umkm | jq .payload; INSERT umkm cek ES</a:t>
            </a:r>
          </a:p>
          <a:p>
            <a:r>
              <a:t>Q&amp;A: Kenapa tidak dual-write? PG OK+ES FAIL=inkonsisten, tidak ada transaksi lintas DB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Bab 7 -- API Delivery Payload GZIP Cursor Edge RateLimit</a:t>
            </a:r>
          </a:p>
          <a:p>
            <a:r>
              <a:t>Narasi: ?fields= hemat 70%, GZIP 70-80% Brotli +20%, cursor 20ms vs OFFSET 2000ms, Edge TTL1m, rate 100/10/5</a:t>
            </a:r>
          </a:p>
          <a:p>
            <a:r>
              <a:t>Perintah Live: curl -H Accept-Encoding:gzip -v /api/umkm?fields=name,lat,lng grep gzip 20KB vs 100KB</a:t>
            </a:r>
          </a:p>
          <a:p>
            <a:r>
              <a:t>Q&amp;A: Kenapa sparse fieldsets? 15KB vs 100KB hemat kuota 3G &amp; parsing 2GB 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Bab 8 -- Observabilitas 3 Pilar + pg_stat_statements</a:t>
            </a:r>
          </a:p>
          <a:p>
            <a:r>
              <a:t>Narasi: pg_stat_statements top total_exec_time, slow log 100ms-&gt;Loki, Prometheus 9090 11 jobs, alert p95&gt;500ms 5m</a:t>
            </a:r>
          </a:p>
          <a:p>
            <a:r>
              <a:t>Perintah Live: psql SELECT * FROM pg_stat_statements ORDER BY total_exec_time DESC; curl :9090/api/v1/query?query=up</a:t>
            </a:r>
          </a:p>
          <a:p>
            <a:r>
              <a:t>Q&amp;A: Kenapa slow log 100ms? Sweet spot, 10ms banjir, 1000ms lewatkan pola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Bab 9 -- Roadmap 5 Fase MVP Rp0-&gt;Auto-scale</a:t>
            </a:r>
          </a:p>
          <a:p>
            <a:r>
              <a:t>Narasi: MVP 100 RPS Rp0 PG+pg_trgm+MatView, F2 500 RPS Redis, F3 5k ES+CDC Rp1.5-5jt, F4 50k Rp10jt+, F5 200k 99.99%</a:t>
            </a:r>
          </a:p>
          <a:p>
            <a:r>
              <a:t>Perintah Live: Tidak ada demo, fokus roadmap visual</a:t>
            </a:r>
          </a:p>
          <a:p>
            <a:r>
              <a:t>Q&amp;A: Kenapa tidak langsung Fase5? Biaya Rp10jt+ &amp; trafik belum ada, mulai sederhana bertahap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Bab 10.1 -- SLA 16 Endpoint p50/p95/p99</a:t>
            </a:r>
          </a:p>
          <a:p>
            <a:r>
              <a:t>Narasi: /jadwal-sholat p50&lt;20ms Redis1j tercepat, /kas p50&lt;50ms MatView, /cari p50&lt;50ms GIN/ES, ukur X-Response-Time</a:t>
            </a:r>
          </a:p>
          <a:p>
            <a:r>
              <a:t>Perintah Live: k6 run load/k6-script.js; curl -i /api/komunitas/xxx grep X-Response-Time</a:t>
            </a:r>
          </a:p>
          <a:p>
            <a:r>
              <a:t>Q&amp;A: Kenapa server-side? Tanpa RTT 3G 500-1000ms agar kontrak stabil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Bab 10.2 -- Throughput per Fase + Biaya</a:t>
            </a:r>
          </a:p>
          <a:p>
            <a:r>
              <a:t>Narasi: Rumus (DAU*req)/(peak*3600)*10, MVP 100 RPS 500 DAU Rp0 -&gt; F5 200k 5jt DAU auto-scale</a:t>
            </a:r>
          </a:p>
          <a:p>
            <a:r>
              <a:t>Perintah Live: TARGET=:3003 bun --cwd load run load.ts --vus 100; k6 run --vus 100 --duration 30s</a:t>
            </a:r>
          </a:p>
          <a:p>
            <a:r>
              <a:t>Q&amp;A: Kenapa biaya naik Rp0-&gt;Rp10jt+? Infra dedicated &amp; multi-region, revenue marketplace/BMT cover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Bab 10.4 -- Checklist 10 Definition of Done</a:t>
            </a:r>
          </a:p>
          <a:p>
            <a:r>
              <a:t>Narasi: EXPLAIN, no SeqScan&gt;1000, FK index, pg_trgm, MatView 5m, autovacuum &lt;1000, p95&lt;500ms, no N+1, GZIP, rate limit 429 -- 10/10 hijau baru rilis</a:t>
            </a:r>
          </a:p>
          <a:p>
            <a:r>
              <a:t>Perintah Live: psql -f scripts/explain-demo.sql; SELECT n_dead_tup; curl -H Accept-Encoding:gzip -I grep gzip; burst 105 cek 429</a:t>
            </a:r>
          </a:p>
          <a:p>
            <a:r>
              <a:t>Q&amp;A: Kenapa tiap sprint? Cegah utang performa, jangan cek sekali di akhir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01 -- console.log Anti-Pattern</a:t>
            </a:r>
          </a:p>
          <a:p>
            <a:r>
              <a:t>Narasi: console.log tanpa level, password bocor, tanpa requestId, LIKE Seq Scan 2000ms, avg bohong</a:t>
            </a:r>
          </a:p>
          <a:p>
            <a:r>
              <a:t>Perintah Live: node order-service/src/index.ts &amp; curl POST /checkout d='{"password":"rahasia123"}' lihat bocor</a:t>
            </a:r>
          </a:p>
          <a:p>
            <a:r>
              <a:t>Q&amp;A: Bahaya console.log? Tidak terstruktur, Loki tidak bisa query, Seq Scan tersembunyi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02 -- Pino JSON Proper</a:t>
            </a:r>
          </a:p>
          <a:p>
            <a:r>
              <a:t>Narasi: Pino level+redact [Redacted]+requestId+latency_ms, JSON terstruktur Loki, pino-pretty dev</a:t>
            </a:r>
          </a:p>
          <a:p>
            <a:r>
              <a:t>Perintah Live: LOG_LEVEL=debug bun run src/index-proper.ts &amp; curl -H x-request-id:550e... lihat {"password":"[Redacted]"}</a:t>
            </a:r>
          </a:p>
          <a:p>
            <a:r>
              <a:t>Q&amp;A: Kenapa redact? UU PDP denda Rp2M, Pino redact otomatis aman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03 -- Scale GIN Cursor MatView RLS</a:t>
            </a:r>
          </a:p>
          <a:p>
            <a:r>
              <a:t>Narasi: GIN 2000-&gt;10ms 200x, Cursor 2000-&gt;20ms 100x, MatView 500-&gt;30ms 16x, RLS &lt;0.1ms, Buffers 45 vs 1200</a:t>
            </a:r>
          </a:p>
          <a:p>
            <a:r>
              <a:t>Perintah Live: psql EXPLAIN ANALYZE name % 'ayam' 10ms vs LIKE 2000ms; curl offset=10000 2000ms vs cursor 20ms</a:t>
            </a:r>
          </a:p>
          <a:p>
            <a:r>
              <a:t>Q&amp;A: Kenapa cursor 100x? Langsung lompat via index (created_at,id)&gt;cursor tanpa baca-buang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04 -- Observability Grafana Loki Jaeger</a:t>
            </a:r>
          </a:p>
          <a:p>
            <a:r>
              <a:t>Narasi: Grafana 10 metrik+16 SLA+proteksi :3000, Loki LogQL requestId :3100, Jaeger flame 320ms pg 40ms redis 5ms :16686, alert P95High&gt;500ms</a:t>
            </a:r>
          </a:p>
          <a:p>
            <a:r>
              <a:t>Perintah Live: podman-compose --profile observability up -d; open :3000 admin/admin, :9090, :16686, :3100</a:t>
            </a:r>
          </a:p>
          <a:p>
            <a:r>
              <a:t>Q&amp;A: Bedanya logs vs traces? Logs kenapa error per service, traces di mana bottleneck flame graph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05 -- CDC Debezium-&gt;Kafka-&gt;ES &lt;10ms</a:t>
            </a:r>
          </a:p>
          <a:p>
            <a:r>
              <a:t>Narasi: WAL slot debezium publication dbz_publication -&gt; Kafka gotongroyong.* -&gt; ES geo 5km &lt;10ms vs PostGIS 50ms, fallback pg_trgm</a:t>
            </a:r>
          </a:p>
          <a:p>
            <a:r>
              <a:t>Perintah Live: curl /api/masjid-terdekat?lat=-6.25&amp;lng=106.75&amp;radius=5km | jq .meta.took_ms expect &lt;10; bash scripts/es-demo.sh</a:t>
            </a:r>
          </a:p>
          <a:p>
            <a:r>
              <a:t>Q&amp;A: Lag CDC? lag_ms=now-ts_ms alert &gt;1000ms, offset commit manual idempotent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A -- 5 Proteksi Token Circuit Bulkhead Backpressure Degradation</a:t>
            </a:r>
          </a:p>
          <a:p>
            <a:r>
              <a:t>Narasi: Rate 100/10/5 429, Circuit open 30s jika 50% error 10s, Bulkhead pool 25 isolasi, Backpressure 503 Retry-After, Degradation fallback pg_trgm</a:t>
            </a:r>
          </a:p>
          <a:p>
            <a:r>
              <a:t>Perintah Live: burst 105 cek 429; trigger 50% error cek 503 circuit open; curl /bulkhead/stats</a:t>
            </a:r>
          </a:p>
          <a:p>
            <a:r>
              <a:t>Q&amp;A: Kenapa 5 proteksi? Cegah domino failure berbeda, satu saja tidak cukup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B -- Threshold Scaling 1TB/10M/1000</a:t>
            </a:r>
          </a:p>
          <a:p>
            <a:r>
              <a:t>Narasi: GR konservatif 500GB/5M/500 QPS alert 80% vs Shopee 1TB/10M/1000, vertical &lt;1000 RPS horizontal &gt;1000 auto-scale &gt;50k</a:t>
            </a:r>
          </a:p>
          <a:p>
            <a:r>
              <a:t>Perintah Live: psql SELECT pg_database_size/1GB; cek size &lt;500GB jika &gt; alert scaling</a:t>
            </a:r>
          </a:p>
          <a:p>
            <a:r>
              <a:t>Q&amp;A: Kapan sharding? Data&gt;500GB atau table&gt;5M atau write&gt;500/detik evaluasi sharding/replica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C -- Security 10 Layer</a:t>
            </a:r>
          </a:p>
          <a:p>
            <a:r>
              <a:t>Narasi: TLS1.3, AES-256, RLS &lt;0.1ms, SHA-256 hash chain, Vault, RBAC, rate limit, audit log, backup encrypt, WAF</a:t>
            </a:r>
          </a:p>
          <a:p>
            <a:r>
              <a:t>Perintah Live: Tidak ada demo, fokus teori</a:t>
            </a:r>
          </a:p>
          <a:p>
            <a:r>
              <a:t>Q&amp;A: Hash chain? hash_self=SHA256(amount|desc|recipient|actor|hash_prev) trigger BEFORE INSERT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Penutup -- Kecepatan = Amanah</a:t>
            </a:r>
          </a:p>
          <a:p>
            <a:r>
              <a:t>Narasi: MVP Rp0 p50&lt;50ms PG+Redis+pg_trgm+MatView, tambah ES+CDC Fase3 500+ komunitas, ukur EXPLAIN+pg_stat+Prometheus TIGA INSAN Muttaqin Shalih Nafi'</a:t>
            </a:r>
          </a:p>
          <a:p>
            <a:r>
              <a:t>Perintah Live: Tidak ada demo, Q&amp;A 10 menit</a:t>
            </a:r>
          </a:p>
          <a:p>
            <a:r>
              <a:t>Q&amp;A: Next step? Clone repo, Podman compose, B-Tree FK, pg_trgm, MatView, PgBouncer 25, ukur p95 tiap sprint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FDBA74"/>
                </a:solidFill>
                <a:latin typeface="Calibri"/>
              </a:defRPr>
            </a:pPr>
            <a:r>
              <a:t>GOTONG ROYONG  •  OS Kehidupan Komunitas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6858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Modul Performa</a:t>
            </a:r>
            <a:br/>
            <a:r>
              <a:t>Backend GR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FDBFE"/>
                </a:solidFill>
                <a:latin typeface="Calibri"/>
              </a:defRPr>
            </a:pPr>
            <a:r>
              <a:t>Logging + Performa  •  TIGA INSAN  •  60 menit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188720"/>
            <a:ext cx="411480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417320"/>
            <a:ext cx="36576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>
                <a:solidFill>
                  <a:srgbClr val="1E3A5F"/>
                </a:solidFill>
                <a:latin typeface="Calibri"/>
              </a:defRPr>
            </a:pPr>
            <a:r>
              <a:t>•  Poster 1+2 + 10 Bab + 16 Endpoint + Checklist</a:t>
            </a:r>
          </a:p>
          <a:p>
            <a:pPr>
              <a:spcAft>
                <a:spcPts val="800"/>
              </a:spcAft>
              <a:defRPr sz="900">
                <a:solidFill>
                  <a:srgbClr val="1E3A5F"/>
                </a:solidFill>
                <a:latin typeface="Calibri"/>
              </a:defRPr>
            </a:pPr>
            <a:r>
              <a:t>•  Postgres + Redis + pg_trgm + MatView + PgBouncer  →  p50 &lt;50ms</a:t>
            </a:r>
          </a:p>
          <a:p>
            <a:pPr>
              <a:spcAft>
                <a:spcPts val="800"/>
              </a:spcAft>
              <a:defRPr sz="900">
                <a:solidFill>
                  <a:srgbClr val="1E3A5F"/>
                </a:solidFill>
                <a:latin typeface="Calibri"/>
              </a:defRPr>
            </a:pPr>
            <a:r>
              <a:t>•  CDC Debezium WAL → Kafka → ES geospasial + ClickHouse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550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93C5FD"/>
                </a:solidFill>
                <a:latin typeface="Calibri"/>
              </a:defRPr>
            </a:pPr>
            <a:r>
              <a:t>60 menit  ·  10 Bab  ·  16 Endpoint  ·  Checklist 10 DoD  ·  Rp0 → Auto-scale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1672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F59E0B"/>
                </a:solidFill>
                <a:latin typeface="Calibri"/>
              </a:defRPr>
            </a:pPr>
            <a:r>
              <a:t>1 / 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Daftar Isi  —  10 Bab + 35 Slides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56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BFDBFE"/>
                </a:solidFill>
                <a:latin typeface="Calibri"/>
              </a:defRPr>
            </a:pPr>
            <a:r>
              <a:t>Daftar Isi  ·  2/35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114300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 Bab 1  Kecepatan = Kepercayaan (Muttaqin, SLA)  →  Slides 3-5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 Bab 2  Data Flow Flutter → Gateway → 7 Fondasi → 6 DB  →  Slide 13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 Bab 3  Postgres Scale (B-Tree, pg_trgm, MatView, Cursor, RLS)  →  Slides 14-17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 Bab 4  Caching (L1/L2/L3, TTL, tiering)  →  Slide 18  •  Bab 5 ES geospasial  →  Slide 19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 Bab 6  CDC Streaming (WAL → Kafka → ES/CH, anti dual-write)  →  Slide 20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 Bab 7  API Delivery (GZIP, cursor, Edge, rate limit)  →  Slide 21  •  Bab 8 Observability  →  Slide 22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 Bab 9  Roadmap 5 Fase (MVP Rp0 → auto-scale)  →  Slide 23  •  Bab 10 SLA 16 endpoint + throughput + DoD  →  Slides 24-26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 Demo 01-05 + Appendix A/B/C + Penutup  →  Slides 27-35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01968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BFDBFE"/>
                </a:solidFill>
                <a:latin typeface="Calibri"/>
              </a:defRPr>
            </a:pPr>
            <a:r>
              <a:t>Gotong Royong — OS Kehidupan Komunitas  |  60 menit  |  Daftar Isi  |  TIGA INSAN: Muttaqin • Shalih • Nafi'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1672" y="660196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FDBA74"/>
                </a:solidFill>
                <a:latin typeface="Calibri"/>
              </a:defRPr>
            </a:pPr>
            <a:r>
              <a:t>2 / 35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Bab 1.1  —  Kecepatan = Kepercayaan (Muttaqin)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56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BFDBFE"/>
                </a:solidFill>
                <a:latin typeface="Calibri"/>
              </a:defRPr>
            </a:pPr>
            <a:r>
              <a:t>Bab 1  ·  3/35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6400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 Muttaqin = fondasi TIGA INSAN: beriman dengan akal yang hidup — kepercayaan harus lebih dulu dari fitur.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 SHA-256 hash chain transparansi keuangan: setiap transaksi kas diverifikasi &lt;1 detik → jamaah percaya pengurus.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 Lambat = khianat amanah: setiap ms keterlambatan mengikis kepercayaan yang susah payah dibangun.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 Kecepatan adalah bahasa universal keandalan sistem — warga cek laporan kas, data muncul &lt;1 detik = platform serius.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 Prinsip: ukur server-side (p50/p95/p99), bukan feeling — EXPLAIN ANALYZE, pg_stat_statements, prom-client.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01968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BFDBFE"/>
                </a:solidFill>
                <a:latin typeface="Calibri"/>
              </a:defRPr>
            </a:pPr>
            <a:r>
              <a:t>Gotong Royong — OS Kehidupan Komunitas  |  60 menit  |  Bab 1  |  TIGA INSAN: Muttaqin • Shalih • Nafi'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1672" y="660196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FDBA74"/>
                </a:solidFill>
                <a:latin typeface="Calibri"/>
              </a:defRPr>
            </a:pPr>
            <a:r>
              <a:t>3 / 35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Bab 1.2  —  Konteks Indonesia: 3G, 2-3GB RAM, Kuota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56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BFDBFE"/>
                </a:solidFill>
                <a:latin typeface="Calibri"/>
              </a:defRPr>
            </a:pPr>
            <a:r>
              <a:t>Bab 1  ·  4/35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6400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 Jaringan 3G RTT 500-1000ms, sinyal tidak stabil — backend harus &lt;200ms agar total &lt;3 detik (UX #46, #50).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 Android entry-level RAM 2-3GB, CPU terbatas — payload kecil + GZIP 70-80% = hemat kuota &amp; parsing cepat.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 Kuota terbatas: setiap byte tidak perlu adalah pemborosan — payload shaping ?fields= + Brotli + Edge caching.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 Implikasi: jangan kirim SELECT *; jangan polling; cache jadwal sholat TTL 1 jam; kompresi wajib.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 Gotong Royong bukan Silicon Valley — performa adalah aksesibilitas, bukan kemewahan.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01968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BFDBFE"/>
                </a:solidFill>
                <a:latin typeface="Calibri"/>
              </a:defRPr>
            </a:pPr>
            <a:r>
              <a:t>Gotong Royong — OS Kehidupan Komunitas  |  60 menit  |  Bab 1  |  TIGA INSAN: Muttaqin • Shalih • Nafi'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1672" y="660196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FDBA74"/>
                </a:solidFill>
                <a:latin typeface="Calibri"/>
              </a:defRPr>
            </a:pPr>
            <a:r>
              <a:t>4 / 35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Bab 1.3  —  Target SLA: p50 / p95 / p99 / Availability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56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BFDBFE"/>
                </a:solidFill>
                <a:latin typeface="Calibri"/>
              </a:defRPr>
            </a:pPr>
            <a:r>
              <a:t>Bab 1  ·  5/35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6400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 Global: p50 &lt;50ms (read) / &lt;100ms (write), p95 &lt;200ms, p99 &lt;500ms — diukur server-side (tanpa RTT jaringan).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 Availability: MVP 99.5% (3.6 jam down/bulan) → Fase 3+ 99.9% (43 menit) → Fase 5 99.99% (4 menit).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 Error rate &lt;0.1% semua endpoint; jika p95 &gt;500ms 5 menit → incident, cek pg_stat_statements + EXPLAIN.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 Alat ukur: prom-client histogram (buckets 0.01-5s), Prometheus histogram_quantile, Grafana, k6/autocannon.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 16 endpoint punya SLA per-endpoint (Bab 10.1) — tidak ada satu angka untuk semua; baca tabel SLA.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01968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BFDBFE"/>
                </a:solidFill>
                <a:latin typeface="Calibri"/>
              </a:defRPr>
            </a:pPr>
            <a:r>
              <a:t>Gotong Royong — OS Kehidupan Komunitas  |  60 menit  |  Bab 1  |  TIGA INSAN: Muttaqin • Shalih • Nafi'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1672" y="660196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FDBA74"/>
                </a:solidFill>
                <a:latin typeface="Calibri"/>
              </a:defRPr>
            </a:pPr>
            <a:r>
              <a:t>5 / 35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Poster #1  —  Apa itu 200ms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56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BFDBFE"/>
                </a:solidFill>
                <a:latin typeface="Calibri"/>
              </a:defRPr>
            </a:pPr>
            <a:r>
              <a:t>Poster #1  ·  6/35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6309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1 detik = 1000ms  —  200ms = 0.2 detik = kedipan mata.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Diagram: User (tap) → Server (proses 50ms) → DB (query 20ms) → Response (GZIP 10ms) → User lihat hasil.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200ms adalah batas 'terasa instan' — di atas itu pengguna mulai merasa menunggu (UX #46).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Target backend &lt;200ms p95 → sisa budget untuk jaringan 3G (500-1000ms) masih &lt;3 detik total.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Ukur dengan X-Response-Time header + prom-client histogram, bukan stopwatch manual.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143000"/>
            <a:ext cx="4846320" cy="38404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59168" y="1216152"/>
            <a:ext cx="4626864" cy="3694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86EFAC"/>
                </a:solidFill>
                <a:latin typeface="Consolas"/>
              </a:defRPr>
            </a:pPr>
            <a:r>
              <a:t>User --tap--&gt; [Gateway JWT 5ms] --&gt; [Redis HIT 2ms / DB 20ms] --&gt; [GZIP 5ms] --&gt; User</a:t>
            </a:r>
            <a:br/>
            <a:r>
              <a:t>Total server: 30-50ms (p50)  |  + RTT 3G 500ms = ~550ms (masih &lt;3s)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601968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BFDBFE"/>
                </a:solidFill>
                <a:latin typeface="Calibri"/>
              </a:defRPr>
            </a:pPr>
            <a:r>
              <a:t>Gotong Royong — OS Kehidupan Komunitas  |  60 menit  |  Poster #1  |  TIGA INSAN: Muttaqin • Shalih • Nafi'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1672" y="660196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FDBA74"/>
                </a:solidFill>
                <a:latin typeface="Calibri"/>
              </a:defRPr>
            </a:pPr>
            <a:r>
              <a:t>6 / 35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Poster #2  —  Semakin kecil ms, semakin cepat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56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BFDBFE"/>
                </a:solidFill>
                <a:latin typeface="Calibri"/>
              </a:defRPr>
            </a:pPr>
            <a:r>
              <a:t>Poster #2  ·  7/35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6309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Intuisi: angka ms kecil = cepat, besar = lambat — jangan tertukar.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Tabel acuan (server-side): 1ms sangat cepat · 10ms cepat · 50ms baik · 200ms batas · 1000ms lambat · 10000ms sangat lambat.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Contoh: cache HIT Redis 1-5ms (sangat cepat) vs Seq Scan 2000ms (sangat lambat) = 400-2000x beda.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Goal: pindahkan sebanyak mungkin request dari kolom kanan (lambat) ke kiri (cepat) via index + cache.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Grafana: garis p50 (hijau), p95 (kuning), p99 (merah) — kejar hijau, jaga kuning, waspada merah.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949440" y="1143000"/>
          <a:ext cx="48463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5440"/>
                <a:gridCol w="1615440"/>
                <a:gridCol w="161544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ms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Rasa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Contoh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1-10 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Sangat cepat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Redis HIT, RLS &lt;0.1ms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10-50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Cepat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GIN 10-50ms, MatView 5-30ms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50-200 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Baik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p50 read, p95 target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200-500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Mulai terasa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p99 batas, perlu optimasi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500-1000 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Lambat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OFFSET 2000ms, LIKE Seq Scan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&gt;1000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Sangat lambat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N+1, tanpa index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601968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BFDBFE"/>
                </a:solidFill>
                <a:latin typeface="Calibri"/>
              </a:defRPr>
            </a:pPr>
            <a:r>
              <a:t>Gotong Royong — OS Kehidupan Komunitas  |  60 menit  |  Poster #2  |  TIGA INSAN: Muttaqin • Shalih • Nafi'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1672" y="660196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FDBA74"/>
                </a:solidFill>
                <a:latin typeface="Calibri"/>
              </a:defRPr>
            </a:pPr>
            <a:r>
              <a:t>7 / 35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Poster #3  —  Apa itu P99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56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BFDBFE"/>
                </a:solidFill>
                <a:latin typeface="Calibri"/>
              </a:defRPr>
            </a:pPr>
            <a:r>
              <a:t>Poster #3  ·  8/35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6309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100 request diurutkan dari tercepat ke terlambat — P99 = request ke-99 (99% lebih cepat, 1% lebih lambat).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Contoh: P99 = 200ms artinya 99 request &lt;=200ms, 1 request &gt;200ms (yang paling lambat, paling sering komplain).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Kenapa peduli P99? Karena 1% yang lambat adalah pengguna yang paling vokal — mereka yang churn.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Jangan hanya lihat rata-rata (avg) — avg bisa 50ms tapi P99 2000ms = ada yang sangat menderita.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Spec: p50 &lt;50ms, p95 &lt;200ms, p99 &lt;500ms — ketiganya harus hijau, bukan cuma p50.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143000"/>
            <a:ext cx="4846320" cy="38404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59168" y="1216152"/>
            <a:ext cx="4626864" cy="3694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86EFAC"/>
                </a:solidFill>
                <a:latin typeface="Consolas"/>
              </a:defRPr>
            </a:pPr>
            <a:r>
              <a:t>100 request sorted: [10,12,15,...,45,48, 50(p50), ..., 180, 200(p99), 2500]</a:t>
            </a:r>
            <a:br/>
            <a:r>
              <a:t>  50% &lt;= p50   95% &lt;= p95   99% &lt;= p99   1% tail latency (paling lambat)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601968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BFDBFE"/>
                </a:solidFill>
                <a:latin typeface="Calibri"/>
              </a:defRPr>
            </a:pPr>
            <a:r>
              <a:t>Gotong Royong — OS Kehidupan Komunitas  |  60 menit  |  Poster #3  |  TIGA INSAN: Muttaqin • Shalih • Nafi'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1672" y="660196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FDBA74"/>
                </a:solidFill>
                <a:latin typeface="Calibri"/>
              </a:defRPr>
            </a:pPr>
            <a:r>
              <a:t>8 / 35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Poster #4  —  P50 / P95 / P99 / P99.9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56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BFDBFE"/>
                </a:solidFill>
                <a:latin typeface="Calibri"/>
              </a:defRPr>
            </a:pPr>
            <a:r>
              <a:t>Poster #4  ·  9/35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6309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P50 (median): 50% request lebih cepat — gambaran 'mayoritas' pengguna.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P95: 95% lebih cepat — 5% masih lebih lambat; target p95 &lt;200ms.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P99: 99% lebih cepat — hanya 1% tail; target p99 &lt;500ms.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P99.9: 99.9% lebih cepat — hanya 0.1% (1 dari 1000) — untuk Fase 5 (200k RPS, tail sangat penting).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Distribusi: mayoritas (p50) → banyak (p95) → sedikit (p99) → sangat sedikit (p99.9) — ekor panjang harus dipangkas.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143000"/>
            <a:ext cx="4846320" cy="38404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59168" y="1216152"/>
            <a:ext cx="4626864" cy="3694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86EFAC"/>
                </a:solidFill>
                <a:latin typeface="Consolas"/>
              </a:defRPr>
            </a:pPr>
            <a:r>
              <a:t>Distribusi latency (ms):</a:t>
            </a:r>
            <a:br/>
            <a:r>
              <a:t> p50=30  |███████ majority</a:t>
            </a:r>
            <a:br/>
            <a:r>
              <a:t> p95=150 |███</a:t>
            </a:r>
            <a:br/>
            <a:r>
              <a:t> p99=400 |█ tail</a:t>
            </a:r>
            <a:br/>
            <a:r>
              <a:t>p99.9=900|· very tail  --&gt; optimasi tail = index + cache + proteksi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601968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BFDBFE"/>
                </a:solidFill>
                <a:latin typeface="Calibri"/>
              </a:defRPr>
            </a:pPr>
            <a:r>
              <a:t>Gotong Royong — OS Kehidupan Komunitas  |  60 menit  |  Poster #4  |  TIGA INSAN: Muttaqin • Shalih • Nafi'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1672" y="660196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FDBA74"/>
                </a:solidFill>
                <a:latin typeface="Calibri"/>
              </a:defRPr>
            </a:pPr>
            <a:r>
              <a:t>9 / 35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Poster #5  —  Berapa cepat / lambat (skala rasa)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56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BFDBFE"/>
                </a:solidFill>
                <a:latin typeface="Calibri"/>
              </a:defRPr>
            </a:pPr>
            <a:r>
              <a:t>Poster #5  ·  10/35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6309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Skala rasa pengguna (server-side): 0-50ms sangat cepat, 50-100ms sangat baik, 100-200ms baik, 200-500ms mulai terasa, 500-1000ms lambat, &gt;1000ms sangat lambat.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Mapping ke SLA: p50 harus di 'sangat cepat/sangat baik', p95 di 'baik', p99 jangan sampai 'lambat'.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Jika p95 &gt;500ms → pengguna mulai komplain; &gt;1000ms → tinggalkan aplikasi.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Gunakan skala ini saat baca Grafana — warna hijau (0-100), kuning (100-200), oranye (200-500), merah (&gt;500).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Setiap ms yang dipangkas = kepercayaan yang ditambah (Muttaqin).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949440" y="1143000"/>
          <a:ext cx="48463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5440"/>
                <a:gridCol w="1615440"/>
                <a:gridCol w="161544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Rentang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Rasa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Aksi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0-50 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Sangat cepat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Pertahankan (cache HIT, GIN, MatView)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50-100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Sangat baik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Ideal p50 read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100-200 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Baik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Batas p95, masih OK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200-500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Mulai terasa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Optimasi: index, N+1, payload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500-1000 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Lambat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Incident jika p95 di sini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&gt;1000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Sangat lambat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Wajib fix: Seq Scan, OFFSET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601968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BFDBFE"/>
                </a:solidFill>
                <a:latin typeface="Calibri"/>
              </a:defRPr>
            </a:pPr>
            <a:r>
              <a:t>Gotong Royong — OS Kehidupan Komunitas  |  60 menit  |  Poster #5  |  TIGA INSAN: Muttaqin • Shalih • Nafi'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1672" y="660196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FDBA74"/>
                </a:solidFill>
                <a:latin typeface="Calibri"/>
              </a:defRPr>
            </a:pPr>
            <a:r>
              <a:t>10 / 35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Poster #6.1  —  10 Metrik Wajib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56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BFDBFE"/>
                </a:solidFill>
                <a:latin typeface="Calibri"/>
              </a:defRPr>
            </a:pPr>
            <a:r>
              <a:t>Poster #6  ·  11/35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6309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10 metrik Poster #6 adalah kompas performa — tanpa ukur, tidak bisa kelola.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3 pilar observabilitas (Bab 8.5): Metrics (Prometheus), Logs (Loki), Traces (Jaeger) — saling melengkapi.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Cache hit rate &gt;80% adalah pembeda MVP yang scalable vs yang boros DB.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DB Query Time p95 &lt;50ms &amp; no Seq Scan &gt;1000 rows — cek pg_stat_statements tiap rilis.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949440" y="1143000"/>
          <a:ext cx="48463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1580"/>
                <a:gridCol w="1211580"/>
                <a:gridCol w="1211580"/>
                <a:gridCol w="1211580"/>
              </a:tblGrid>
              <a:tr h="349134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Metrik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Alat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Response Time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p50 &lt;50ms read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prom-client histogram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P95 / P99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&lt;200ms / &lt;500ms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histogram_quantile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Throughput RPS/QPS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100 → 200k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http_requests_total, k6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Latency RTT/TTFB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&lt;200ms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curl time_total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Error Rate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&lt;0.1%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5xx / total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Availability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99.5% → 99.99%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up, SLO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CPU Usage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&lt;70% avg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node_cpu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Memory Usage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&lt;70% avg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node_memory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DB Query Time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&lt;50ms p95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pg_stat_statements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4914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Cache Hit 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&gt;80%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cache_hit_total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601968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BFDBFE"/>
                </a:solidFill>
                <a:latin typeface="Calibri"/>
              </a:defRPr>
            </a:pPr>
            <a:r>
              <a:t>Gotong Royong — OS Kehidupan Komunitas  |  60 menit  |  Poster #6  |  TIGA INSAN: Muttaqin • Shalih • Nafi'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1672" y="660196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FDBA74"/>
                </a:solidFill>
                <a:latin typeface="Calibri"/>
              </a:defRPr>
            </a:pPr>
            <a:r>
              <a:t>11 / 35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Poster #7  —  Glossary Super Sederhana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56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BFDBFE"/>
                </a:solidFill>
                <a:latin typeface="Calibri"/>
              </a:defRPr>
            </a:pPr>
            <a:r>
              <a:t>Poster #7  ·  12/35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6309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Bahasa performa tanpa jargon — untuk pengurus masjid &amp; RT/RW juga paham.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ms = milidetik (1/1000 detik); P99 = 99% request lebih cepat dari angka ini.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RPS/QPS = request/detik; Latency = waktu bolak-balik; Throughput = berapa banyak yang bisa dilayani.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Cache Hit = ambil dari memori cepat (tanpa tanya DB); Error Rate = % gagal; Availability = % waktu hidup.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949440" y="1143000"/>
          <a:ext cx="48463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242316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Istilah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Arti 1 kalimat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Milidetik: 1000ms = 1 detik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P99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99% request &lt;= angka ini, 1% lebih lambat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RPS/QPS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Request/Query per detik (throughput)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Latency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Waktu tunggu bolak-balik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Throughput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Kapasitas layani request/detik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Error 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% request gagal (5xx)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Availability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% waktu layanan hidup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CPU / Memory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% otak &amp; ingatan server terpakai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Cache Hit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% dilayani dari memori cepat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601968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BFDBFE"/>
                </a:solidFill>
                <a:latin typeface="Calibri"/>
              </a:defRPr>
            </a:pPr>
            <a:r>
              <a:t>Gotong Royong — OS Kehidupan Komunitas  |  60 menit  |  Poster #7  |  TIGA INSAN: Muttaqin • Shalih • Nafi'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1672" y="660196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FDBA74"/>
                </a:solidFill>
                <a:latin typeface="Calibri"/>
              </a:defRPr>
            </a:pPr>
            <a:r>
              <a:t>12 / 35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Bab 2  —  Data Flow: Flutter → Gateway → 7 Fondasi → 6 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56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BFDBFE"/>
                </a:solidFill>
                <a:latin typeface="Calibri"/>
              </a:defRPr>
            </a:pPr>
            <a:r>
              <a:t>Bab 2  ·  13/35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6309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Flutter (single codebase) → API Gateway (Kong/Supabase Edge: JWT, rate limit, GZIP) → 7 Fondasi Bersama.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7 Fondasi: Auth, Profile, Payment (HarmoniPay+Xendit), Notification (FCM/Wablas), Storage (S3/R2), Audit SHA-256, Feature Flag.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6 DB: Postgres (jantung ACID+RLS), Redis (&lt;10ms cache), Mongo (kajian), ES (geo+search), ClickHouse (OLAP), Influx/Timescale (IoT).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Bottleneck per layer: Gateway (JWT cache &lt;5ms), Fondasi (profile cache 5m), DB (index+pool), Network (GZIP 70%).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Hot path read: Flutter → Gateway cache → Redis HIT &lt;5ms → response (tanpa DB).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143000"/>
            <a:ext cx="4846320" cy="38404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59168" y="1216152"/>
            <a:ext cx="4626864" cy="3694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86EFAC"/>
                </a:solidFill>
                <a:latin typeface="Consolas"/>
              </a:defRPr>
            </a:pPr>
            <a:r>
              <a:t>Flutter --&gt; Gateway(JWT cache) --&gt; [7 Fondasi] --&gt; Redis HIT &lt;5ms --&gt; response</a:t>
            </a:r>
            <a:br/>
            <a:r>
              <a:t>                         \--&gt; Postgres(ACID) --WAL--&gt; Debezium --&gt; Kafka --&gt; ES/ClickHouse (async)</a:t>
            </a:r>
            <a:br/>
            <a:r>
              <a:t>                         \--&gt; pg_trgm(MVP) / ES(Fase3) --&gt; cache populer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601968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BFDBFE"/>
                </a:solidFill>
                <a:latin typeface="Calibri"/>
              </a:defRPr>
            </a:pPr>
            <a:r>
              <a:t>Gotong Royong — OS Kehidupan Komunitas  |  60 menit  |  Bab 2  |  TIGA INSAN: Muttaqin • Shalih • Nafi'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1672" y="660196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FDBA74"/>
                </a:solidFill>
                <a:latin typeface="Calibri"/>
              </a:defRPr>
            </a:pPr>
            <a:r>
              <a:t>13 / 35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Bab 3.1  —  Index B-Tree: 50.000x lebih cepat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56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BFDBFE"/>
                </a:solidFill>
                <a:latin typeface="Calibri"/>
              </a:defRPr>
            </a:pPr>
            <a:r>
              <a:t>Bab 3  ·  14/35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6309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Tanpa index: Seq Scan baca 1.000.000 baris satu-per-satu — lambat, O(n).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Dengan B-Tree: Balanced Tree cari dalam ~20 langkah (logaritmik) — O(log n) → 50.000x speedup.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Aturan: semua FK wajib punya index (Checklist #3) — tanpa index, JOIN = Seq Scan.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Buat CONCURRENTLY agar tidak blokir write di produksi; cek EXPLAIN: Index Scan vs Seq Scan.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Index komposit: (community_id, pinned, created_at) untuk ORDER BY pinned, created_at LIMIT 20 (p50 &lt;30ms).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143000"/>
            <a:ext cx="4846320" cy="38404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59168" y="1216152"/>
            <a:ext cx="4626864" cy="3694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86EFAC"/>
                </a:solidFill>
                <a:latin typeface="Consolas"/>
              </a:defRPr>
            </a:pPr>
            <a:r>
              <a:t>Tanpa index: [1M rows] --scan--&gt; 1.000.000 langkah ~2000ms</a:t>
            </a:r>
            <a:br/>
            <a:r>
              <a:t>Dengan B-Tree:  root -&gt; branch -&gt; branch -&gt; leaf  ~20 langkah ~10ms</a:t>
            </a:r>
            <a:br/>
            <a:r>
              <a:t>CREATE INDEX CONCURRENTLY idx_komunitas_slug ON communities(slug);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601968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BFDBFE"/>
                </a:solidFill>
                <a:latin typeface="Calibri"/>
              </a:defRPr>
            </a:pPr>
            <a:r>
              <a:t>Gotong Royong — OS Kehidupan Komunitas  |  60 menit  |  Bab 3  |  TIGA INSAN: Muttaqin • Shalih • Nafi'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1672" y="660196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FDBA74"/>
                </a:solidFill>
                <a:latin typeface="Calibri"/>
              </a:defRPr>
            </a:pPr>
            <a:r>
              <a:t>14 / 35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Bab 3.2  —  pg_trgm GIN: 10-50ms vs LIKE 2000ms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56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BFDBFE"/>
                </a:solidFill>
                <a:latin typeface="Calibri"/>
              </a:defRPr>
            </a:pPr>
            <a:r>
              <a:t>Bab 3  ·  15/35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6309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LIKE '%ayam%' tidak bisa pakai B-Tree → Seq Scan 6.081 baris ~2000ms (meledak saat data tumbuh).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pg_trgm pecah teks jadi trigram (3 huruf), GIN index cari overlap trigram → 10-50ms, similarity 71% untuk 'ayam'.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Query: WHERE name % 'ayam' ORDER BY similarity(name,'ayam') DESC LIMIT 20 (operator % = similarity &gt;0.3).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Aktifkan: CREATE EXTENSION pg_trgm; CREATE INDEX USING GIN (name gin_trgm_ops) — gratis, built-in Postgres.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Kapan ES? pg_trgm cukup untuk puluhan ribu dokumen; ES untuk 500+ komunitas / ratusan ribu dokumen (Fase 3).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143000"/>
            <a:ext cx="4846320" cy="38404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59168" y="1216152"/>
            <a:ext cx="4626864" cy="3694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86EFAC"/>
                </a:solidFill>
                <a:latin typeface="Consolas"/>
              </a:defRPr>
            </a:pPr>
            <a:r>
              <a:t>BEFORE: SELECT * FROM umkm WHERE name LIKE '%ayam%'  --&gt; Seq Scan 2000ms</a:t>
            </a:r>
            <a:br/>
            <a:r>
              <a:t>AFTER : SELECT * FROM umkm WHERE name % 'ayam' ORDER BY similarity DESC --&gt; GIN 10-50ms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601968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BFDBFE"/>
                </a:solidFill>
                <a:latin typeface="Calibri"/>
              </a:defRPr>
            </a:pPr>
            <a:r>
              <a:t>Gotong Royong — OS Kehidupan Komunitas  |  60 menit  |  Bab 3  |  TIGA INSAN: Muttaqin • Shalih • Nafi'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1672" y="660196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FDBA74"/>
                </a:solidFill>
                <a:latin typeface="Calibri"/>
              </a:defRPr>
            </a:pPr>
            <a:r>
              <a:t>15 / 35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Bab 3.3-3.4  —  MatView + Cursor vs OFFSET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56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BFDBFE"/>
                </a:solidFill>
                <a:latin typeface="Calibri"/>
              </a:defRPr>
            </a:pPr>
            <a:r>
              <a:t>Bab 3  ·  16/35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6400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 MatView: agregasi SUM(amount) GROUP BY community_id dari 500ms (Seq Scan) → 5-30ms (Index Scan MatView) — refresh tiap 5 menit CONCURRENTLY.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 OFFSET 10000: scan 10.020 baris, buang 10.000 → 2000ms; Cursor keyset: WHERE (created_at,id) &gt; cursor LIMIT 20 → 20ms (100x).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 Cursor di-encode base64: {created_at, id} → nextCursor; stabil, tidak skip/duplikat saat data baru masuk.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 Kapan OFFSET boleh? Hanya untuk halaman kecil (&lt;100) atau export batch; untuk feed/list wajib cursor.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 Verifikasi: EXPLAIN (ANALYZE, BUFFERS) — cek Execution Time &amp; Buffers hit.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1280160"/>
            <a:ext cx="46634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78040" y="138988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3A5F"/>
                </a:solidFill>
                <a:latin typeface="Calibri"/>
              </a:defRPr>
            </a:pPr>
            <a:r>
              <a:t>⚡ MatView+Cursor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627632"/>
            <a:ext cx="4389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6B7280"/>
                </a:solidFill>
                <a:latin typeface="Calibri"/>
              </a:defRPr>
            </a:pPr>
            <a:r>
              <a:t>MatView 500→30ms</a:t>
            </a:r>
            <a:br/>
            <a:r>
              <a:t>Cursor 2000→20ms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601968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BFDBFE"/>
                </a:solidFill>
                <a:latin typeface="Calibri"/>
              </a:defRPr>
            </a:pPr>
            <a:r>
              <a:t>Gotong Royong — OS Kehidupan Komunitas  |  60 menit  |  Bab 3  |  TIGA INSAN: Muttaqin • Shalih • Nafi'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1672" y="660196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FDBA74"/>
                </a:solidFill>
                <a:latin typeface="Calibri"/>
              </a:defRPr>
            </a:pPr>
            <a:r>
              <a:t>16 / 35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Bab 3.5-3.8  —  PgBouncer, EXPLAIN, RLS, VACUUM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56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BFDBFE"/>
                </a:solidFill>
                <a:latin typeface="Calibri"/>
              </a:defRPr>
            </a:pPr>
            <a:r>
              <a:t>Bab 3  ·  17/35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6400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 PgBouncer pool 25, transaction mode :6432 — dari 200 koneksi langsung → 25 pool, hemat memori &amp; context switch.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 EXPLAIN ANALYZE: metode identifikasi query lambat — lihat Seq Scan, Index Scan, Execution Time, Buffers.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 RLS &lt;0.1ms overhead: CREATE POLICY community_isolation USING (community_id = current_setting(...)) + index FK.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 VACUUM &amp; ANALYZE: pemeliharaan rutin — VACUUM hapus dead tuple, ANALYZE update statistik planner agar tidak salah pilih Seq Scan.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 Checklist: autovacuum normal, n_dead_tup &lt;1000, pg_stat_statements enabled, slow log &gt;100ms.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1280160"/>
            <a:ext cx="46634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78040" y="138988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3A5F"/>
                </a:solidFill>
                <a:latin typeface="Calibri"/>
              </a:defRPr>
            </a:pPr>
            <a:r>
              <a:t>🔒 RLS+VACUUM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627632"/>
            <a:ext cx="4389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6B7280"/>
                </a:solidFill>
                <a:latin typeface="Calibri"/>
              </a:defRPr>
            </a:pPr>
            <a:r>
              <a:t>PgBouncer 25 pool</a:t>
            </a:r>
            <a:br/>
            <a:r>
              <a:t>RLS &lt;0.1ms</a:t>
            </a:r>
            <a:br/>
            <a:r>
              <a:t>VACUUM rutin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601968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BFDBFE"/>
                </a:solidFill>
                <a:latin typeface="Calibri"/>
              </a:defRPr>
            </a:pPr>
            <a:r>
              <a:t>Gotong Royong — OS Kehidupan Komunitas  |  60 menit  |  Bab 3  |  TIGA INSAN: Muttaqin • Shalih • Nafi'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1672" y="660196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FDBA74"/>
                </a:solidFill>
                <a:latin typeface="Calibri"/>
              </a:defRPr>
            </a:pPr>
            <a:r>
              <a:t>17 / 35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Bab 4  —  Caching: Hierarki L1/L2/L3 + TTL + Tiering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56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BFDBFE"/>
                </a:solidFill>
                <a:latin typeface="Calibri"/>
              </a:defRPr>
            </a:pPr>
            <a:r>
              <a:t>Bab 4  ·  18/35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6309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Hierarki: L1 memory sub-ms (hot), L2 Redis 1-5ms (warm), L3 Postgres 10-50ms (cold) — kejar L1/L2.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Pola: Cache-Aside (lazy, baca dulu cache, miss baru DB) vs Write-Through (tulis cache+DB bersamaan).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TTL: jadwal sholat 1 jam, profil 5 menit, komunitas 10 menit, cari populer 5 menit — jangan cache selamanya.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Tiering: hot (sering diakses, TTL pendek), warm (kadang, TTL menengah), cold (jarang, tanpa cache).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Kapan Redis wajib? p99 cache &gt;5ms atau &gt;500 writes/detik atau hot data &gt;80% hit rate (threshold 80%).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949440" y="1143000"/>
          <a:ext cx="48463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1580"/>
                <a:gridCol w="1211580"/>
                <a:gridCol w="1211580"/>
                <a:gridCol w="1211580"/>
              </a:tblGrid>
              <a:tr h="96012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Tier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Latency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Contoh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TTL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L1 memory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sub-ms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Feature flag, JWT cache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60s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L2 Redis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1-5ms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Jadwal sholat, profil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5m-1h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L3 Postgres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10-50ms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Transaksi, ledger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601968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BFDBFE"/>
                </a:solidFill>
                <a:latin typeface="Calibri"/>
              </a:defRPr>
            </a:pPr>
            <a:r>
              <a:t>Gotong Royong — OS Kehidupan Komunitas  |  60 menit  |  Bab 4  |  TIGA INSAN: Muttaqin • Shalih • Nafi'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1672" y="660196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FDBA74"/>
                </a:solidFill>
                <a:latin typeface="Calibri"/>
              </a:defRPr>
            </a:pPr>
            <a:r>
              <a:t>18 / 35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Bab 5  —  Elasticsearch: Inverted Index + Geospasial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56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BFDBFE"/>
                </a:solidFill>
                <a:latin typeface="Calibri"/>
              </a:defRPr>
            </a:pPr>
            <a:r>
              <a:t>Bab 5  ·  19/35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6400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 Inverted Index vs LIKE: LIKE scan semua baris; ES pecah kata → index kata → cari kata &lt;10ms untuk jutaan dokumen.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 Kapan butuh ES? Fase 3 (500+ komunitas, 50k+ anggota) — MVP cukup pg_trgm; jangan over-engineering di awal.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 Geospasial masjid terdekat: geo_distance 5km + sort _geo_distance &lt;10ms (PostGIS ~50ms) — butuh lat/lng di communities.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 Mapping: text analyzer indonesian + keyword + suggest, geo_point lat_lng, date created_at, keyword kelurahan.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 Sinkronisasi: Postgres WAL → Debezium → Kafka → ES (real-time) atau batch 5 menit untuk MVP.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1280160"/>
            <a:ext cx="46634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78040" y="138988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3A5F"/>
                </a:solidFill>
                <a:latin typeface="Calibri"/>
              </a:defRPr>
            </a:pPr>
            <a:r>
              <a:t>🔍 Elasticsearch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627632"/>
            <a:ext cx="4389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6B7280"/>
                </a:solidFill>
                <a:latin typeface="Calibri"/>
              </a:defRPr>
            </a:pPr>
            <a:r>
              <a:t>Inverted Index</a:t>
            </a:r>
            <a:br/>
            <a:r>
              <a:t>500+ komunitas</a:t>
            </a:r>
            <a:br/>
            <a:r>
              <a:t>→ 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601968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BFDBFE"/>
                </a:solidFill>
                <a:latin typeface="Calibri"/>
              </a:defRPr>
            </a:pPr>
            <a:r>
              <a:t>Gotong Royong — OS Kehidupan Komunitas  |  60 menit  |  Bab 5  |  TIGA INSAN: Muttaqin • Shalih • Nafi'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1672" y="660196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FDBA74"/>
                </a:solidFill>
                <a:latin typeface="Calibri"/>
              </a:defRPr>
            </a:pPr>
            <a:r>
              <a:t>19 / 35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Bab 6  —  CDC: Debezium WAL → Kafka → ES/ClickHouse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56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BFDBFE"/>
                </a:solidFill>
                <a:latin typeface="Calibri"/>
              </a:defRPr>
            </a:pPr>
            <a:r>
              <a:t>Bab 6  ·  20/35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6309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CDC = tangkap perubahan DB tanpa polling — Debezium baca WAL logical (INSERT/UPDATE/DELETE) → kirim ke Kafka.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Kafka sebagai broker: consumer terpisah tulis ke ES (search) &amp; ClickHouse (OLAP) — buffer &amp; replay.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Batch ETL alternatif untuk non real-time: cron 00:00 ekstrak Postgres → ClickHouse (laporan bulanan, hemat biaya).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Anti dual-write: tulis HANYA ke Postgres (source of truth); jangan insert ke Postgres lalu ke ES di kode aplikasi — jika salah satu gagal = inkonsisten.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Prinsip single writer: Postgres WAL adalah kebenaran; ES/ClickHouse adalah derived (bisa rebuild kapan saja).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143000"/>
            <a:ext cx="4846320" cy="38404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59168" y="1216152"/>
            <a:ext cx="4626864" cy="3694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86EFAC"/>
                </a:solidFill>
                <a:latin typeface="Consolas"/>
              </a:defRPr>
            </a:pPr>
            <a:r>
              <a:t>Postgres WAL --(Debezium pgoutput)--&gt; Kafka(9092) --+--&gt; ES(9200) geo &lt;10ms</a:t>
            </a:r>
            <a:br/>
            <a:r>
              <a:t>                                           +--&gt; ClickHouse(8123) OLAP</a:t>
            </a:r>
            <a:br/>
            <a:r>
              <a:t>Dual-write DANGER: app-&gt;PG OK + app-&gt;ES FAIL = data hilang di search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601968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BFDBFE"/>
                </a:solidFill>
                <a:latin typeface="Calibri"/>
              </a:defRPr>
            </a:pPr>
            <a:r>
              <a:t>Gotong Royong — OS Kehidupan Komunitas  |  60 menit  |  Bab 6  |  TIGA INSAN: Muttaqin • Shalih • Nafi'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1672" y="660196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FDBA74"/>
                </a:solidFill>
                <a:latin typeface="Calibri"/>
              </a:defRPr>
            </a:pPr>
            <a:r>
              <a:t>20 / 35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Bab 7  —  API Delivery: Payload, GZIP, Cursor, Edge, Rate Limit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56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BFDBFE"/>
                </a:solidFill>
                <a:latin typeface="Calibri"/>
              </a:defRPr>
            </a:pPr>
            <a:r>
              <a:t>Bab 7  ·  21/35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6400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 Payload shaping: ?fields=name,lat,lng — kirim hanya yang dibutuhkan, hemat 70% bandwidth &amp; parsing.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 GZIP 70-80% (semua browser), Brotli +20-30% lebih baik — aktifkan di Gateway (level 6, threshold 1024).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 Cursor vs OFFSET: cursor 20ms stabil, OFFSET 2000ms di halaman dalam — wajib cursor untuk feed/list.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 Cloudflare Edge caching: cache response GET di edge (TTL 1m) — kurangi origin hit, TTFB &lt;50ms global.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 Rate limiting: 100 req/menit (umum), 10 (write), 5 (lapor) — lindungi backend dari burst &amp; abuse.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1280160"/>
            <a:ext cx="46634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78040" y="138988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3A5F"/>
                </a:solidFill>
                <a:latin typeface="Calibri"/>
              </a:defRPr>
            </a:pPr>
            <a:r>
              <a:t>🚀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627632"/>
            <a:ext cx="4389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6B7280"/>
                </a:solidFill>
                <a:latin typeface="Calibri"/>
              </a:defRPr>
            </a:pPr>
            <a:r>
              <a:t>GZIP 70-80%</a:t>
            </a:r>
            <a:br/>
            <a:r>
              <a:t>Cursor &gt; OFFSET</a:t>
            </a:r>
            <a:br/>
            <a:r>
              <a:t>Edge cache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601968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BFDBFE"/>
                </a:solidFill>
                <a:latin typeface="Calibri"/>
              </a:defRPr>
            </a:pPr>
            <a:r>
              <a:t>Gotong Royong — OS Kehidupan Komunitas  |  60 menit  |  Bab 7  |  TIGA INSAN: Muttaqin • Shalih • Nafi'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1672" y="660196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FDBA74"/>
                </a:solidFill>
                <a:latin typeface="Calibri"/>
              </a:defRPr>
            </a:pPr>
            <a:r>
              <a:t>21 / 35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Bab 8  —  Observabilitas: 3 Pilar + pg_stat_statements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56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BFDBFE"/>
                </a:solidFill>
                <a:latin typeface="Calibri"/>
              </a:defRPr>
            </a:pPr>
            <a:r>
              <a:t>Bab 8  ·  22/35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6400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 pg_stat_statements: lacak query lambat (mean_time, calls) — SELECT * FROM pg_stat_statements ORDER BY mean_time DESC.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 Slow log 100ms: log_min_duration_statement = 100ms → Loki; identifikasi bottleneck tanpa tebak.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 Prometheus (9090) + Grafana (3000): 10 metrik Poster #6, 11 scrape jobs, interval 15s, histogram_quantile p95/p99.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 Alert threshold: p95 &gt;500ms 5m, error &gt;1%, DB pool &gt;80%, CPU &gt;80%, cache hit &lt;80% → WA/Email via Alertmanager.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 3 pilar: Metrics (apa yang lambat), Logs (kenapa, via Loki LogQL requestId), Traces (di mana, via Jaeger flame graph).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1280160"/>
            <a:ext cx="46634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78040" y="138988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3A5F"/>
                </a:solidFill>
                <a:latin typeface="Calibri"/>
              </a:defRPr>
            </a:pPr>
            <a:r>
              <a:t>🔎 Observability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627632"/>
            <a:ext cx="4389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6B7280"/>
                </a:solidFill>
                <a:latin typeface="Calibri"/>
              </a:defRPr>
            </a:pPr>
            <a:r>
              <a:t>Metrics/Logs/Traces</a:t>
            </a:r>
            <a:br/>
            <a:r>
              <a:t>p95&gt;500ms → alert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601968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BFDBFE"/>
                </a:solidFill>
                <a:latin typeface="Calibri"/>
              </a:defRPr>
            </a:pPr>
            <a:r>
              <a:t>Gotong Royong — OS Kehidupan Komunitas  |  60 menit  |  Bab 8  |  TIGA INSAN: Muttaqin • Shalih • Nafi'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1672" y="660196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FDBA74"/>
                </a:solidFill>
                <a:latin typeface="Calibri"/>
              </a:defRPr>
            </a:pPr>
            <a:r>
              <a:t>22 / 35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Bab 9  —  Roadmap 5 Fase: MVP Rp0 → Auto-scale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56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BFDBFE"/>
                </a:solidFill>
                <a:latin typeface="Calibri"/>
              </a:defRPr>
            </a:pPr>
            <a:r>
              <a:t>Bab 9  ·  23/35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6309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MVP (Bln 1-6) Rp0: Postgres + pg_trgm + MatView + PgBouncer → p50 &lt;50ms, 100 RPS, 5-10 komunitas.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Fase 2 (7-12) Rp0-500rb: + Redis caching + pooling → 500 RPS, 50+ komunitas, Supabase Pro + Upstash Free.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Fase 3 (13-24) Rp1.5-5jt: + ES + CDC + ClickHouse → 5.000 RPS, 500+ komunitas, geospasial &amp; analitik.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Fase 4 (25+) Rp10jt+: + Full observability + HA/DR → 50.000 RPS, 5.000+ komunitas, 99.9%.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Fase 5 (25+) Auto-scale: p50 &lt;10ms, 200.000+ RPS, 50.000+ komunitas, 99.99% — mulai sederhana, tingkatkan bertahap.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949440" y="1143000"/>
          <a:ext cx="48463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1580"/>
                <a:gridCol w="1211580"/>
                <a:gridCol w="1211580"/>
                <a:gridCol w="121158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Fase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Throughput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Biaya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p50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MVP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100 RPS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Rp 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&lt;50ms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Fase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500 RPS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Rp 0-500rb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&lt;50ms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Fase 3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5.000 RPS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Rp 1.5-5jt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&lt;30ms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Fase 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50.000 RPS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Rp 10jt+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&lt;20ms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Fase 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200.000 RPS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Auto-scale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&lt;10ms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601968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BFDBFE"/>
                </a:solidFill>
                <a:latin typeface="Calibri"/>
              </a:defRPr>
            </a:pPr>
            <a:r>
              <a:t>Gotong Royong — OS Kehidupan Komunitas  |  60 menit  |  Bab 9  |  TIGA INSAN: Muttaqin • Shalih • Nafi'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1672" y="660196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FDBA74"/>
                </a:solidFill>
                <a:latin typeface="Calibri"/>
              </a:defRPr>
            </a:pPr>
            <a:r>
              <a:t>23 / 35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Bab 10.1  —  SLA 16 Endpoint (p50 / p95 / p99)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56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BFDBFE"/>
                </a:solidFill>
                <a:latin typeface="Calibri"/>
              </a:defRPr>
            </a:pPr>
            <a:r>
              <a:t>Bab 10  ·  24/35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6309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16 endpoint dengan SLA per-endpoint — tidak ada satu angka untuk semua; baca tabel sebelum rilis.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Read tercepat: /jadwal-sholat p50 &lt;20ms (Redis TTL 1 jam); Write: /kas POST p50 &lt;100ms (trigger SHA-256).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Semua endpoint wajib EXPLAIN ANALYZE sebelum rilis; jika p95 &gt;500ms → incident.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Strategi utama per endpoint: cache, index, MatView, cursor, GIN — lihat kolom Strategi di tabel.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949440" y="1143000"/>
          <a:ext cx="48463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9264"/>
                <a:gridCol w="969264"/>
                <a:gridCol w="969264"/>
                <a:gridCol w="969264"/>
                <a:gridCol w="969264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Endpoint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p50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p95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p99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GET /komunitas/:id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&lt;30ms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&lt;100ms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&lt;200ms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GET /kas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&lt;50ms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&lt;200ms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&lt;500ms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GET /pengumuman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&lt;30ms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&lt;100ms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&lt;200ms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GET /jadwal-sholat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&lt;20ms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&lt;50ms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&lt;100ms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GET /cari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&lt;50ms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&lt;200ms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&lt;500ms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...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16 endpoint total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&lt;50 read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&lt;200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&lt;500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601968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BFDBFE"/>
                </a:solidFill>
                <a:latin typeface="Calibri"/>
              </a:defRPr>
            </a:pPr>
            <a:r>
              <a:t>Gotong Royong — OS Kehidupan Komunitas  |  60 menit  |  Bab 10  |  TIGA INSAN: Muttaqin • Shalih • Nafi'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1672" y="660196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FDBA74"/>
                </a:solidFill>
                <a:latin typeface="Calibri"/>
              </a:defRPr>
            </a:pPr>
            <a:r>
              <a:t>24 / 35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Bab 10.2  —  Throughput per Fase + Biaya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56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BFDBFE"/>
                </a:solidFill>
                <a:latin typeface="Calibri"/>
              </a:defRPr>
            </a:pPr>
            <a:r>
              <a:t>Bab 10  ·  25/35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6309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Rumus: Throughput = (DAU x req_per_user) / (peak_hours x 3600), burst 5x, target 10x estimasi (safety margin).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MVP 100 RPS (500 DAU) → Fase 2 500 → Fase 3 5.000 → Fase 4 50.000 → Fase 5 200.000+ RPS.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Biaya: Rp0 (Free) → Rp0-500rb (Pro) → Rp1.5-5jt (ES+CH) → Rp10jt+ (Enterprise) — Rp0-friendly via Podman lokal.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Scaling: MVP-Fase2 vertical (tambah RAM), Fase3 horizontal (+server+LB), Fase4-5 auto-scale.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Koneksi DB: 10-20 → 50-100 → 200-500 → 500-1000 → 2000+ (PgBouncer pool 25 jaga).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949440" y="1143000"/>
          <a:ext cx="48463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9264"/>
                <a:gridCol w="969264"/>
                <a:gridCol w="969264"/>
                <a:gridCol w="969264"/>
                <a:gridCol w="969264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Fase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Komunitas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DAU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Target RPS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Biaya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MVP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5-10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500-1k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Rp 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Fase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50+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5k-10k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Rp 0-500rb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Fase 3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500+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50k-100k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5.000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Rp 1.5-5jt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Fase 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5.000+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500k-1jt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50.000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Rp 10jt+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Fase 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50.000+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5jt+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200.000+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Auto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601968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BFDBFE"/>
                </a:solidFill>
                <a:latin typeface="Calibri"/>
              </a:defRPr>
            </a:pPr>
            <a:r>
              <a:t>Gotong Royong — OS Kehidupan Komunitas  |  60 menit  |  Bab 10  |  TIGA INSAN: Muttaqin • Shalih • Nafi'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1672" y="660196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FDBA74"/>
                </a:solidFill>
                <a:latin typeface="Calibri"/>
              </a:defRPr>
            </a:pPr>
            <a:r>
              <a:t>25 / 35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Bab 10.4  —  Checklist 10 Definition of Done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56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BFDBFE"/>
                </a:solidFill>
                <a:latin typeface="Calibri"/>
              </a:defRPr>
            </a:pPr>
            <a:r>
              <a:t>Bab 10  ·  26/35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6309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Wajib diverifikasi sebelum setiap rilis — penanggung jawab rilis harus tanda tangan checklist.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Setiap item tidak terpenuhi = risiko degradasi performa; jangan deploy jika ada yang merah.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Alat: psql EXPLAIN, pg_stat_statements, curl GZIP, k6, Grafana p95, code review N+1.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Otomatisasi: CI jalankan EXPLAIN + lint + k6 smoke sebelum merge.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949440" y="1143000"/>
          <a:ext cx="48463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5440"/>
                <a:gridCol w="1615440"/>
                <a:gridCol w="1615440"/>
              </a:tblGrid>
              <a:tr h="349134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Checklist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Verifikasi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EXPLAIN ANALYZE semua query baru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Execution Time OK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No Seq Scan &gt;1000 rows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EXPLAIN tanpa Seq Scan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Semua FK punya index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pg_constraint vs pg_index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pg_trgm aktif jika ada search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pg_extension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MatView refresh terjadwal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cron 5m / CONCURRENTLY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Autovacuum normal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n_dead_tup &lt;1000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p95 &lt;500ms semua endpoint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histogram_quantile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No N+1 query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JOIN / IN, OTEL trace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GZIP/Brotli aktif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Content-Encoding: gzip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4914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Rate limiting aktif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429 setelah burst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601968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BFDBFE"/>
                </a:solidFill>
                <a:latin typeface="Calibri"/>
              </a:defRPr>
            </a:pPr>
            <a:r>
              <a:t>Gotong Royong — OS Kehidupan Komunitas  |  60 menit  |  Bab 10  |  TIGA INSAN: Muttaqin • Shalih • Nafi'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1672" y="660196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FDBA74"/>
                </a:solidFill>
                <a:latin typeface="Calibri"/>
              </a:defRPr>
            </a:pPr>
            <a:r>
              <a:t>26 / 35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Demo 01  —  console.log Anti-Pattern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56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BFDBFE"/>
                </a:solidFill>
                <a:latin typeface="Calibri"/>
              </a:defRPr>
            </a:pPr>
            <a:r>
              <a:t>Demo 01  ·  27/35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6309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Bahaya: console.log tanpa level, password bocor di log, tanpa requestId, Seq Scan tersembunyi.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Contoh: console.log('cari q='+q+' ip='+req.ip) — password ikut ke log, tidak bisa filter level, tidak ada korelasi.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Dampak: log tidak terstruktur → Loki tidak bisa query; Seq Scan 2000ms tidak terlihat sampai produksi meledak.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Solusi: ganti Pino JSON (Demo 02) + requestId + redact [Redacted] + EXPLAIN ANALYZE.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Coba: jalankan umkm-service/src/index.ts (branch 01) → lihat log berantakan &amp; query LIKE '%ayam%' Seq Scan.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143000"/>
            <a:ext cx="4846320" cy="38404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59168" y="1216152"/>
            <a:ext cx="4626864" cy="3694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86EFAC"/>
                </a:solidFill>
                <a:latin typeface="Consolas"/>
              </a:defRPr>
            </a:pPr>
            <a:r>
              <a:t>console.log('query: SELECT * FROM umkm WHERE name LIKE \'%'+q+'%\''); // Seq Scan!</a:t>
            </a:r>
            <a:br/>
            <a:r>
              <a:t>console.log('password='+req.body.password); // BOCOR!</a:t>
            </a:r>
            <a:br/>
            <a:r>
              <a:t>// Tidak ada level, tidak ada requestId, tidak bisa filter di Loki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601968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BFDBFE"/>
                </a:solidFill>
                <a:latin typeface="Calibri"/>
              </a:defRPr>
            </a:pPr>
            <a:r>
              <a:t>Gotong Royong — OS Kehidupan Komunitas  |  60 menit  |  Demo 01  |  TIGA INSAN: Muttaqin • Shalih • Nafi'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1672" y="660196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FDBA74"/>
                </a:solidFill>
                <a:latin typeface="Calibri"/>
              </a:defRPr>
            </a:pPr>
            <a:r>
              <a:t>27 / 35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Demo 02  —  Pino JSON Proper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56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BFDBFE"/>
                </a:solidFill>
                <a:latin typeface="Calibri"/>
              </a:defRPr>
            </a:pPr>
            <a:r>
              <a:t>Demo 02  ·  28/35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6309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Pino: level (debug/info/warn/error), redact [Redacted] untuk password/token, requestId, latency_ms, hostname.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Contoh log JSON: {level:'info', service:'umkm-service', requestId:'550e...', latency_ms:23, q:'ayam'} — terstruktur, bisa di-query Loki.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Redact: paths ['password','token','req.headers.authorization'] → '[Redacted]' — aman, tidak bocor.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Transport: pino-pretty di dev (colorize), JSON murni di production → Alloy → Loki.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Coba: index-proper.ts → curl /api/cari?q=ayam → lihat log JSON + X-Request-Id header.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143000"/>
            <a:ext cx="4846320" cy="38404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59168" y="1216152"/>
            <a:ext cx="4626864" cy="3694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86EFAC"/>
                </a:solidFill>
                <a:latin typeface="Consolas"/>
              </a:defRPr>
            </a:pPr>
            <a:r>
              <a:t>{"level":"info","service":"umkm-service","requestId":"550e8400...","latency_ms":23,"q":"ayam"}</a:t>
            </a:r>
            <a:br/>
            <a:r>
              <a:t>{"level":"info","password":"[Redacted]","token":"[Redacted]"} // aman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601968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BFDBFE"/>
                </a:solidFill>
                <a:latin typeface="Calibri"/>
              </a:defRPr>
            </a:pPr>
            <a:r>
              <a:t>Gotong Royong — OS Kehidupan Komunitas  |  60 menit  |  Demo 02  |  TIGA INSAN: Muttaqin • Shalih • Nafi'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1672" y="660196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FDBA74"/>
                </a:solidFill>
                <a:latin typeface="Calibri"/>
              </a:defRPr>
            </a:pPr>
            <a:r>
              <a:t>28 / 35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Demo 03  —  Scale: GIN, Cursor, MatView, RLS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56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BFDBFE"/>
                </a:solidFill>
                <a:latin typeface="Calibri"/>
              </a:defRPr>
            </a:pPr>
            <a:r>
              <a:t>Demo 03  ·  29/35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6309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GIN: LIKE '%ayam%' 2000ms → GIN 10-50ms (40-200x) — pg_trgm + similarity &gt;0.3.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Cursor: OFFSET 10000 2000ms → cursor keyset 20ms (100x) — WHERE (created_at,id) &gt; cursor LIMIT 20.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MatView: SUM(amount) 500ms → mv_kas_total 5-30ms (16-100x) — REFRESH CONCURRENTLY tiap 5 menit.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RLS: overhead &lt;0.1ms — policy community_isolation + index FK, isolasi per komunitas tanpa lambat.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Coba: scripts/explain-demo.sql → EXPLAIN (ANALYZE, BUFFERS) lihat Index Scan vs Seq Scan.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949440" y="1143000"/>
          <a:ext cx="48463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1580"/>
                <a:gridCol w="1211580"/>
                <a:gridCol w="1211580"/>
                <a:gridCol w="1211580"/>
              </a:tblGrid>
              <a:tr h="768096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Teknik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Sebelum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Sesudah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Speedup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GIN pg_trgm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2000ms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10-50ms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40-200x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Cursor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2000ms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20ms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100x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MatView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500ms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5-30ms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16-100x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RLS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&lt;0.1ms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601968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BFDBFE"/>
                </a:solidFill>
                <a:latin typeface="Calibri"/>
              </a:defRPr>
            </a:pPr>
            <a:r>
              <a:t>Gotong Royong — OS Kehidupan Komunitas  |  60 menit  |  Demo 03  |  TIGA INSAN: Muttaqin • Shalih • Nafi'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1672" y="660196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FDBA74"/>
                </a:solidFill>
                <a:latin typeface="Calibri"/>
              </a:defRPr>
            </a:pPr>
            <a:r>
              <a:t>29 / 35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Demo 04  —  Observability: Grafana, Loki, Jaeger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56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BFDBFE"/>
                </a:solidFill>
                <a:latin typeface="Calibri"/>
              </a:defRPr>
            </a:pPr>
            <a:r>
              <a:t>Demo 04  ·  30/35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6400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 Grafana 10 metrik (Poster #6) + per-endpoint 16 SLA + proteksi (Circuit/Bulkhead/Backpressure) — dashboard performa-gr.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 Loki LogQL: {service=~"umkm|kas"} | json | requestId="550e..." — korelasi log lintas service via requestId.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 Jaeger flame graph: trace 320ms → span pg.query 40ms, redis 5ms, http 280ms — langsung tahu bottleneck.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 Alert: P95High &gt;500ms 5m, ErrorRate &gt;1%, DBPool &gt;80%, CacheHit &lt;80% → WA/Email via Alertmanager.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 Coba: podman-compose --profile observability up -d → open :3000 (admin/admin), :9090, :16686, :3100.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01968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BFDBFE"/>
                </a:solidFill>
                <a:latin typeface="Calibri"/>
              </a:defRPr>
            </a:pPr>
            <a:r>
              <a:t>Gotong Royong — OS Kehidupan Komunitas  |  60 menit  |  Demo 04  |  TIGA INSAN: Muttaqin • Shalih • Nafi'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1672" y="660196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FDBA74"/>
                </a:solidFill>
                <a:latin typeface="Calibri"/>
              </a:defRPr>
            </a:pPr>
            <a:r>
              <a:t>30 / 35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Demo 05  —  CDC Streaming: Debezium → Kafka → ES &lt;10ms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56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BFDBFE"/>
                </a:solidFill>
                <a:latin typeface="Calibri"/>
              </a:defRPr>
            </a:pPr>
            <a:r>
              <a:t>Demo 05  ·  31/35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6309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Debezium baca WAL logical (slot debezium, publication dbz_publication) → Kafka topic gotongroyong.* → consumer tulis ES/ClickHouse.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ES geo_distance 5km &lt;10ms untuk 256 masjid (vs PostGIS ~50ms) — demo: GET /api/masjid-terdekat?lat=-6.25&amp;lng=106.75&amp;radius=5km.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Full-text multi_match + highlight + fuzziness AUTO → GET /api/cari-es?q=ayam, fallback pg_trgm jika ES down.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ClickHouse: ledger_analytics MergeTree ORDER BY (community_id, created_at) + mv_ledger_daily SummingMergeTree.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Anti dual-write: app hanya tulis Postgres; CDC yang sebar — lag_ms dimonitor, alert jika &gt;1000ms.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143000"/>
            <a:ext cx="4846320" cy="38404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59168" y="1216152"/>
            <a:ext cx="4626864" cy="3694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86EFAC"/>
                </a:solidFill>
                <a:latin typeface="Consolas"/>
              </a:defRPr>
            </a:pPr>
            <a:r>
              <a:t>curl "http://localhost:3003/api/masjid-terdekat?lat=-6.25&amp;lng=106.75&amp;radius=5km" | jq .meta.took_ms</a:t>
            </a:r>
            <a:br/>
            <a:r>
              <a:t># expect &lt;10  (ES geo_distance)</a:t>
            </a:r>
            <a:br/>
            <a:r>
              <a:t>bash scripts/es-demo.sh  # create index, bulk 6k, verify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601968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BFDBFE"/>
                </a:solidFill>
                <a:latin typeface="Calibri"/>
              </a:defRPr>
            </a:pPr>
            <a:r>
              <a:t>Gotong Royong — OS Kehidupan Komunitas  |  60 menit  |  Demo 05  |  TIGA INSAN: Muttaqin • Shalih • Nafi'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1672" y="660196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FDBA74"/>
                </a:solidFill>
                <a:latin typeface="Calibri"/>
              </a:defRPr>
            </a:pPr>
            <a:r>
              <a:t>31 / 35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Appendix A  —  5 Proteksi: Token, Circuit, Bulkhead, Backpressure, Degradation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56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BFDBFE"/>
                </a:solidFill>
                <a:latin typeface="Calibri"/>
              </a:defRPr>
            </a:pPr>
            <a:r>
              <a:t>Appendix A  ·  32/35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6400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 Token/Leaky Bucket: rate limiting 100/10/5 req/menit — tolak burst, kembalikan 429, simpan di Redis.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 Circuit Breaker: jika downstream gagal 50% 10 detik → open 30 detik, fallback cache/error cepat, bukan hang.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 Bulkhead: isolasi pool per service (max 25) — satu service lambat tidak habiskan semua koneksi.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 Backpressure: queue penuh → tolak dengan 503 + Retry-After, jangan OOM.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 Graceful Degradation: jika ES down → fallback pg_trgm; jika Redis down → langsung DB (lebih lambat tapi tetap hidup).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01968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BFDBFE"/>
                </a:solidFill>
                <a:latin typeface="Calibri"/>
              </a:defRPr>
            </a:pPr>
            <a:r>
              <a:t>Gotong Royong — OS Kehidupan Komunitas  |  60 menit  |  Appendix A  |  TIGA INSAN: Muttaqin • Shalih • Nafi'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1672" y="660196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FDBA74"/>
                </a:solidFill>
                <a:latin typeface="Calibri"/>
              </a:defRPr>
            </a:pPr>
            <a:r>
              <a:t>32 / 35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Appendix B  —  Threshold Scaling: 1TB / 10M / 1000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56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BFDBFE"/>
                </a:solidFill>
                <a:latin typeface="Calibri"/>
              </a:defRPr>
            </a:pPr>
            <a:r>
              <a:t>Appendix B  ·  33/35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6309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Threshold Shopee → GR konservatif: Data &gt;500GB (vs 1TB), Single table &gt;5M rows (vs 10M), Write QPS &gt;500 (vs 1000) → evaluasi sharding/replica.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Vertical vs Horizontal: &lt;1000 RPS vertical (tambah RAM/CPU) cukup; &gt;1000 RPS horizontal (+server+LB); &gt;50k auto-scale.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Replica/Sharding: read replica untuk baca, sharding by community_id untuk write-heavy, MatView untuk agregasi.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HA/DR: replica Postgres, backup WAL, failover otomatis, RTO &lt;5 menit, RPO &lt;1 menit (WAL archiving).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Monitor 80% threshold, alert sebelum 100% — jangan tunggu penuh baru panik.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949440" y="1143000"/>
          <a:ext cx="48463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5440"/>
                <a:gridCol w="1615440"/>
                <a:gridCol w="1615440"/>
              </a:tblGrid>
              <a:tr h="768096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Metrik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Threshold GR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Tindakan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Data size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&gt;500 GB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Sharding / replica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Single 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&gt;5M rows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Partitioning, archiving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Write QPS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&gt;500/detik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Kafka queue, batch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P99 cache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&gt;5ms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Wajib Redis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601968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BFDBFE"/>
                </a:solidFill>
                <a:latin typeface="Calibri"/>
              </a:defRPr>
            </a:pPr>
            <a:r>
              <a:t>Gotong Royong — OS Kehidupan Komunitas  |  60 menit  |  Appendix B  |  TIGA INSAN: Muttaqin • Shalih • Nafi'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1672" y="660196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FDBA74"/>
                </a:solidFill>
                <a:latin typeface="Calibri"/>
              </a:defRPr>
            </a:pPr>
            <a:r>
              <a:t>33 / 35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Appendix C  —  Security 10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56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BFDBFE"/>
                </a:solidFill>
                <a:latin typeface="Calibri"/>
              </a:defRPr>
            </a:pPr>
            <a:r>
              <a:t>Appendix C  ·  34/35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6400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 10 layer: TLS 1.3 (transit), AES-256 (at-rest), RLS (row isolation), hash chain SHA-256 (ledger), Vault (secret), RBAC, rate limit, audit log, backup encrypt, WAF.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 TLS 1.3 wajib untuk semua HTTP; AES-256 untuk storage S3/R2; RLS &lt;0.1ms untuk multi-tenant.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 Hash chain: hash_self = SHA256(amount|description|recipient|actor|hash_prev), genesis 0x00..00, verifikasi via GET /ledger/verify.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 Vault: jangan hardcode secret di env file — ambil dari Vault/KMS, rotasi otomatis.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 Audit: tabel audit_log (actor, action, timestamp, ip, old/new JSON) + trigger — siapa ubah apa, kapan.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01968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BFDBFE"/>
                </a:solidFill>
                <a:latin typeface="Calibri"/>
              </a:defRPr>
            </a:pPr>
            <a:r>
              <a:t>Gotong Royong — OS Kehidupan Komunitas  |  60 menit  |  Appendix C  |  TIGA INSAN: Muttaqin • Shalih • Nafi'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1672" y="660196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FDBA74"/>
                </a:solidFill>
                <a:latin typeface="Calibri"/>
              </a:defRPr>
            </a:pPr>
            <a:r>
              <a:t>34 / 35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FDBA74"/>
                </a:solidFill>
                <a:latin typeface="Calibri"/>
              </a:defRPr>
            </a:pPr>
            <a:r>
              <a:t>GOTONG ROYONG  •  OS Kehidupan Komunitas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6858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Kecepatan = Amanah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FDBFE"/>
                </a:solidFill>
                <a:latin typeface="Calibri"/>
              </a:defRPr>
            </a:pPr>
            <a:r>
              <a:t>Mulai sederhana, tingkatkan bertahap — setiap ms = kepercayaan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188720"/>
            <a:ext cx="411480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417320"/>
            <a:ext cx="36576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>
                <a:solidFill>
                  <a:srgbClr val="1E3A5F"/>
                </a:solidFill>
                <a:latin typeface="Calibri"/>
              </a:defRPr>
            </a:pPr>
            <a:r>
              <a:t>•  MVP Rp0 sudah p50 &lt;50ms dengan Postgres+Redis+pg_trgm+MatView</a:t>
            </a:r>
          </a:p>
          <a:p>
            <a:pPr>
              <a:spcAft>
                <a:spcPts val="800"/>
              </a:spcAft>
              <a:defRPr sz="900">
                <a:solidFill>
                  <a:srgbClr val="1E3A5F"/>
                </a:solidFill>
                <a:latin typeface="Calibri"/>
              </a:defRPr>
            </a:pPr>
            <a:r>
              <a:t>•  Tambah ES+CDC+ClickHouse saat 500+ komunitas (Fase 3) — jangan over-engineering di awal</a:t>
            </a:r>
          </a:p>
          <a:p>
            <a:pPr>
              <a:spcAft>
                <a:spcPts val="800"/>
              </a:spcAft>
              <a:defRPr sz="900">
                <a:solidFill>
                  <a:srgbClr val="1E3A5F"/>
                </a:solidFill>
                <a:latin typeface="Calibri"/>
              </a:defRPr>
            </a:pPr>
            <a:r>
              <a:t>•  Ukur, jangan tebak: EXPLAIN ANALYZE, pg_stat_statements, Prometheus, Loki, Jaeger</a:t>
            </a:r>
          </a:p>
          <a:p>
            <a:pPr>
              <a:spcAft>
                <a:spcPts val="800"/>
              </a:spcAft>
              <a:defRPr sz="900">
                <a:solidFill>
                  <a:srgbClr val="1E3A5F"/>
                </a:solidFill>
                <a:latin typeface="Calibri"/>
              </a:defRPr>
            </a:pPr>
            <a:r>
              <a:t>•  TIGA INSAN: Muttaqin (percaya), Shalih (berkarya), Nafi' (bermanfaat) — performa adalah wujudnya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550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93C5FD"/>
                </a:solidFill>
                <a:latin typeface="Calibri"/>
              </a:defRPr>
            </a:pPr>
            <a:r>
              <a:t>60 menit  ·  10 Bab  ·  16 Endpoint  ·  Checklist 10 DoD  ·  Rp0 → Auto-scale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1672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F59E0B"/>
                </a:solidFill>
                <a:latin typeface="Calibri"/>
              </a:defRPr>
            </a:pPr>
            <a:r>
              <a:t>35 / 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